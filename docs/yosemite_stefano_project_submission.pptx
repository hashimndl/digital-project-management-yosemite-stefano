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55"/>
  </p:sldIdLst>
  <p:sldSz cy="10058400" cx="7772400"/>
  <p:notesSz cx="6858000" cy="9144000"/>
  <p:embeddedFontLst>
    <p:embeddedFont>
      <p:font typeface="Helvetica Neue"/>
      <p:regular r:id="rId43"/>
      <p:bold r:id="rId44"/>
      <p:italic r:id="rId45"/>
      <p:boldItalic r:id="rId46"/>
    </p:embeddedFont>
    <p:embeddedFont>
      <p:font typeface="Open Sans Light"/>
      <p:regular r:id="rId47"/>
      <p:bold r:id="rId48"/>
      <p:italic r:id="rId49"/>
      <p:boldItalic r:id="rId50"/>
    </p:embeddedFont>
    <p:embeddedFont>
      <p:font typeface="Open Sans"/>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747775"/>
          </p15:clr>
        </p15:guide>
        <p15:guide id="2" pos="244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2BA829-6A89-494B-93C7-34DF5BC7DE1F}">
  <a:tblStyle styleId="{C82BA829-6A89-494B-93C7-34DF5BC7DE1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font" Target="fonts/HelveticaNeue-regular.fntdata"/><Relationship Id="rId44" Type="http://schemas.openxmlformats.org/officeDocument/2006/relationships/font" Target="fonts/HelveticaNeue-bold.fntdata"/><Relationship Id="rId45" Type="http://schemas.openxmlformats.org/officeDocument/2006/relationships/font" Target="fonts/HelveticaNeue-italic.fntdata"/><Relationship Id="rId46" Type="http://schemas.openxmlformats.org/officeDocument/2006/relationships/font" Target="fonts/HelveticaNeue-boldItalic.fntdata"/><Relationship Id="rId47" Type="http://schemas.openxmlformats.org/officeDocument/2006/relationships/font" Target="fonts/OpenSansLight-regular.fntdata"/><Relationship Id="rId48" Type="http://schemas.openxmlformats.org/officeDocument/2006/relationships/font" Target="fonts/OpenSansLight-bold.fntdata"/><Relationship Id="rId49" Type="http://schemas.openxmlformats.org/officeDocument/2006/relationships/font" Target="fonts/OpenSansLight-italic.fntdata"/><Relationship Id="rId50" Type="http://schemas.openxmlformats.org/officeDocument/2006/relationships/font" Target="fonts/OpenSansLight-boldItalic.fntdata"/><Relationship Id="rId51" Type="http://schemas.openxmlformats.org/officeDocument/2006/relationships/font" Target="fonts/OpenSans-regular.fntdata"/><Relationship Id="rId52" Type="http://schemas.openxmlformats.org/officeDocument/2006/relationships/font" Target="fonts/OpenSans-bold.fntdata"/><Relationship Id="rId53" Type="http://schemas.openxmlformats.org/officeDocument/2006/relationships/font" Target="fonts/OpenSans-italic.fntdata"/><Relationship Id="rId54" Type="http://schemas.openxmlformats.org/officeDocument/2006/relationships/font" Target="fonts/OpenSans-boldItalic.fntdata"/><Relationship Id="rId55"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33" name="Google Shape;3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g2abe88b6f23_0_1: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0" name="Google Shape;40;g2abe88b6f2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g2abe88b6f23_0_7: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6" name="Google Shape;46;g2abe88b6f2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abe88b6f23_0_16: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abe88b6f2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abe88b6f23_0_24: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abe88b6f2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abe88b6f23_0_31: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abe88b6f2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abe88b6f23_0_37: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abe88b6f2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abe88b6f23_0_45: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abe88b6f23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abe88b6f23_0_56: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abe88b6f2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abe88b6f23_0_76: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abe88b6f23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abe88b6f23_0_81: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abe88b6f2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abe88b6f23_0_87: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abe88b6f23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abe88b6f23_0_101: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abe88b6f23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abe88b6f23_0_92: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abe88b6f23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abe88b6f23_0_109: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abe88b6f23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acf3666510_0_26: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acf366651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abe88b6f23_0_115: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abe88b6f23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abe88b6f23_0_131: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abe88b6f23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ac2f510ffe_0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ac2f510f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acf3666510_0_12: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acf366651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ac2f510ffe_0_136: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ac2f510ffe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ac2f510ffe_0_6: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ac2f510ff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ac2f510ffe_0_12: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ac2f510ff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ac2f510ffe_0_142: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ac2f510ffe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ac2f510ffe_0_18: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ac2f510ff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ac2f510ffe_0_31: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ac2f510ff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ac2f510ffe_0_36: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ac2f510ff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ac2f510ffe_0_117: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ac2f510ffe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ac2f510ffe_0_43: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ac2f510ffe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b686e40a28_0_5: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b686e40a2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684f04a3c3_0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684f04a3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ac2f510ffe_0_124: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ac2f510ff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ac2f510ffe_0_131: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ac2f510ffe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af2de73a9f_0_11: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af2de73a9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af2de73a9f_0_16: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af2de73a9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af2de73a9f_0_22: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af2de73a9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2B3E4"/>
        </a:solidFill>
      </p:bgPr>
    </p:bg>
    <p:spTree>
      <p:nvGrpSpPr>
        <p:cNvPr id="10" name="Shape 10"/>
        <p:cNvGrpSpPr/>
        <p:nvPr/>
      </p:nvGrpSpPr>
      <p:grpSpPr>
        <a:xfrm>
          <a:off x="0" y="0"/>
          <a:ext cx="0" cy="0"/>
          <a:chOff x="0" y="0"/>
          <a:chExt cx="0" cy="0"/>
        </a:xfrm>
      </p:grpSpPr>
      <p:sp>
        <p:nvSpPr>
          <p:cNvPr id="11" name="Google Shape;11;p2"/>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3600"/>
              <a:buFont typeface="Open Sans Light"/>
              <a:buNone/>
              <a:defRPr sz="3600">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 name="Google Shape;12;p2"/>
          <p:cNvSpPr txBox="1"/>
          <p:nvPr>
            <p:ph idx="2" type="title"/>
          </p:nvPr>
        </p:nvSpPr>
        <p:spPr>
          <a:xfrm>
            <a:off x="264895" y="8409771"/>
            <a:ext cx="7242600" cy="1119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3600"/>
              <a:buFont typeface="Open Sans Light"/>
              <a:buNone/>
              <a:defRPr sz="3600">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 name="Google Shape;13;p2"/>
          <p:cNvPicPr preferRelativeResize="0"/>
          <p:nvPr/>
        </p:nvPicPr>
        <p:blipFill>
          <a:blip r:embed="rId2">
            <a:alphaModFix/>
          </a:blip>
          <a:stretch>
            <a:fillRect/>
          </a:stretch>
        </p:blipFill>
        <p:spPr>
          <a:xfrm>
            <a:off x="0" y="0"/>
            <a:ext cx="7772400" cy="68579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bg>
      <p:bgPr>
        <a:solidFill>
          <a:srgbClr val="2D3D49"/>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64900" y="2160200"/>
            <a:ext cx="7242600" cy="25539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400"/>
              <a:buFont typeface="Open Sans Light"/>
              <a:buNone/>
              <a:defRPr sz="4400">
                <a:solidFill>
                  <a:schemeClr val="lt1"/>
                </a:solidFill>
                <a:latin typeface="Open Sans Light"/>
                <a:ea typeface="Open Sans Light"/>
                <a:cs typeface="Open Sans Light"/>
                <a:sym typeface="Open Sans Light"/>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pic>
        <p:nvPicPr>
          <p:cNvPr id="16" name="Google Shape;16;p3"/>
          <p:cNvPicPr preferRelativeResize="0"/>
          <p:nvPr/>
        </p:nvPicPr>
        <p:blipFill>
          <a:blip r:embed="rId2">
            <a:alphaModFix/>
          </a:blip>
          <a:stretch>
            <a:fillRect/>
          </a:stretch>
        </p:blipFill>
        <p:spPr>
          <a:xfrm>
            <a:off x="7020199" y="154300"/>
            <a:ext cx="530400" cy="530400"/>
          </a:xfrm>
          <a:prstGeom prst="rect">
            <a:avLst/>
          </a:prstGeom>
          <a:noFill/>
          <a:ln>
            <a:noFill/>
          </a:ln>
        </p:spPr>
      </p:pic>
      <p:pic>
        <p:nvPicPr>
          <p:cNvPr id="17" name="Google Shape;17;p3"/>
          <p:cNvPicPr preferRelativeResize="0"/>
          <p:nvPr/>
        </p:nvPicPr>
        <p:blipFill>
          <a:blip r:embed="rId3">
            <a:alphaModFix/>
          </a:blip>
          <a:stretch>
            <a:fillRect/>
          </a:stretch>
        </p:blipFill>
        <p:spPr>
          <a:xfrm>
            <a:off x="837125" y="4561700"/>
            <a:ext cx="1047750" cy="1524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ove slide">
  <p:cSld name="SECTION_HEADER_1_1">
    <p:bg>
      <p:bgPr>
        <a:solidFill>
          <a:schemeClr val="lt1"/>
        </a:solidFill>
      </p:bgPr>
    </p:bg>
    <p:spTree>
      <p:nvGrpSpPr>
        <p:cNvPr id="18" name="Shape 18"/>
        <p:cNvGrpSpPr/>
        <p:nvPr/>
      </p:nvGrpSpPr>
      <p:grpSpPr>
        <a:xfrm>
          <a:off x="0" y="0"/>
          <a:ext cx="0" cy="0"/>
          <a:chOff x="0" y="0"/>
          <a:chExt cx="0" cy="0"/>
        </a:xfrm>
      </p:grpSpPr>
      <p:sp>
        <p:nvSpPr>
          <p:cNvPr id="19" name="Google Shape;19;p4"/>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lvl1pPr lvl="0" rtl="0">
              <a:spcBef>
                <a:spcPts val="0"/>
              </a:spcBef>
              <a:spcAft>
                <a:spcPts val="0"/>
              </a:spcAft>
              <a:buSzPts val="3200"/>
              <a:buFont typeface="Open Sans Light"/>
              <a:buNone/>
              <a:defRPr sz="3200">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nvSpPr>
        <p:spPr>
          <a:xfrm>
            <a:off x="884150" y="7891976"/>
            <a:ext cx="6004200" cy="1749300"/>
          </a:xfrm>
          <a:prstGeom prst="rect">
            <a:avLst/>
          </a:prstGeom>
          <a:solidFill>
            <a:srgbClr val="DBE2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3600">
                <a:solidFill>
                  <a:srgbClr val="15C26B"/>
                </a:solidFill>
                <a:latin typeface="Open Sans"/>
                <a:ea typeface="Open Sans"/>
                <a:cs typeface="Open Sans"/>
                <a:sym typeface="Open Sans"/>
              </a:rPr>
              <a:t>Remove this slide </a:t>
            </a:r>
            <a:endParaRPr b="1" i="1" sz="3600">
              <a:solidFill>
                <a:srgbClr val="15C26B"/>
              </a:solidFill>
              <a:latin typeface="Open Sans"/>
              <a:ea typeface="Open Sans"/>
              <a:cs typeface="Open Sans"/>
              <a:sym typeface="Open Sans"/>
            </a:endParaRPr>
          </a:p>
        </p:txBody>
      </p:sp>
      <p:sp>
        <p:nvSpPr>
          <p:cNvPr id="21" name="Google Shape;21;p4"/>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Font typeface="Open Sans Light"/>
              <a:buChar char="●"/>
              <a:defRPr>
                <a:latin typeface="Open Sans Light"/>
                <a:ea typeface="Open Sans Light"/>
                <a:cs typeface="Open Sans Light"/>
                <a:sym typeface="Open Sans Light"/>
              </a:defRPr>
            </a:lvl1pPr>
            <a:lvl2pPr indent="-342900" lvl="1" marL="914400" rtl="0">
              <a:spcBef>
                <a:spcPts val="1600"/>
              </a:spcBef>
              <a:spcAft>
                <a:spcPts val="0"/>
              </a:spcAft>
              <a:buSzPts val="1800"/>
              <a:buFont typeface="Open Sans Light"/>
              <a:buChar char="○"/>
              <a:defRPr sz="1800">
                <a:latin typeface="Open Sans Light"/>
                <a:ea typeface="Open Sans Light"/>
                <a:cs typeface="Open Sans Light"/>
                <a:sym typeface="Open Sans Light"/>
              </a:defRPr>
            </a:lvl2pPr>
            <a:lvl3pPr indent="-342900" lvl="2" marL="1371600" rtl="0">
              <a:spcBef>
                <a:spcPts val="1600"/>
              </a:spcBef>
              <a:spcAft>
                <a:spcPts val="0"/>
              </a:spcAft>
              <a:buSzPts val="1800"/>
              <a:buFont typeface="Open Sans Light"/>
              <a:buChar char="■"/>
              <a:defRPr sz="1800">
                <a:latin typeface="Open Sans Light"/>
                <a:ea typeface="Open Sans Light"/>
                <a:cs typeface="Open Sans Light"/>
                <a:sym typeface="Open Sans Light"/>
              </a:defRPr>
            </a:lvl3pPr>
            <a:lvl4pPr indent="-342900" lvl="3" marL="1828800" rtl="0">
              <a:spcBef>
                <a:spcPts val="1600"/>
              </a:spcBef>
              <a:spcAft>
                <a:spcPts val="0"/>
              </a:spcAft>
              <a:buSzPts val="1800"/>
              <a:buFont typeface="Open Sans Light"/>
              <a:buChar char="●"/>
              <a:defRPr sz="1800">
                <a:latin typeface="Open Sans Light"/>
                <a:ea typeface="Open Sans Light"/>
                <a:cs typeface="Open Sans Light"/>
                <a:sym typeface="Open Sans Light"/>
              </a:defRPr>
            </a:lvl4pPr>
            <a:lvl5pPr indent="-342900" lvl="4" marL="2286000" rtl="0">
              <a:spcBef>
                <a:spcPts val="1600"/>
              </a:spcBef>
              <a:spcAft>
                <a:spcPts val="0"/>
              </a:spcAft>
              <a:buSzPts val="1800"/>
              <a:buFont typeface="Open Sans Light"/>
              <a:buChar char="○"/>
              <a:defRPr sz="1800">
                <a:latin typeface="Open Sans Light"/>
                <a:ea typeface="Open Sans Light"/>
                <a:cs typeface="Open Sans Light"/>
                <a:sym typeface="Open Sans Light"/>
              </a:defRPr>
            </a:lvl5pPr>
            <a:lvl6pPr indent="-342900" lvl="5" marL="2743200" rtl="0">
              <a:spcBef>
                <a:spcPts val="1600"/>
              </a:spcBef>
              <a:spcAft>
                <a:spcPts val="0"/>
              </a:spcAft>
              <a:buSzPts val="1800"/>
              <a:buFont typeface="Open Sans Light"/>
              <a:buChar char="■"/>
              <a:defRPr sz="1800">
                <a:latin typeface="Open Sans Light"/>
                <a:ea typeface="Open Sans Light"/>
                <a:cs typeface="Open Sans Light"/>
                <a:sym typeface="Open Sans Light"/>
              </a:defRPr>
            </a:lvl6pPr>
            <a:lvl7pPr indent="-342900" lvl="6" marL="3200400" rtl="0">
              <a:spcBef>
                <a:spcPts val="1600"/>
              </a:spcBef>
              <a:spcAft>
                <a:spcPts val="0"/>
              </a:spcAft>
              <a:buSzPts val="1800"/>
              <a:buFont typeface="Open Sans Light"/>
              <a:buChar char="●"/>
              <a:defRPr sz="1800">
                <a:latin typeface="Open Sans Light"/>
                <a:ea typeface="Open Sans Light"/>
                <a:cs typeface="Open Sans Light"/>
                <a:sym typeface="Open Sans Light"/>
              </a:defRPr>
            </a:lvl7pPr>
            <a:lvl8pPr indent="-342900" lvl="7" marL="3657600" rtl="0">
              <a:spcBef>
                <a:spcPts val="1600"/>
              </a:spcBef>
              <a:spcAft>
                <a:spcPts val="0"/>
              </a:spcAft>
              <a:buSzPts val="1800"/>
              <a:buFont typeface="Open Sans Light"/>
              <a:buChar char="○"/>
              <a:defRPr sz="1800">
                <a:latin typeface="Open Sans Light"/>
                <a:ea typeface="Open Sans Light"/>
                <a:cs typeface="Open Sans Light"/>
                <a:sym typeface="Open Sans Light"/>
              </a:defRPr>
            </a:lvl8pPr>
            <a:lvl9pPr indent="-342900" lvl="8" marL="4114800" rtl="0">
              <a:spcBef>
                <a:spcPts val="1600"/>
              </a:spcBef>
              <a:spcAft>
                <a:spcPts val="1600"/>
              </a:spcAft>
              <a:buSzPts val="1800"/>
              <a:buFont typeface="Open Sans Light"/>
              <a:buChar char="■"/>
              <a:defRPr sz="1800">
                <a:latin typeface="Open Sans Light"/>
                <a:ea typeface="Open Sans Light"/>
                <a:cs typeface="Open Sans Light"/>
                <a:sym typeface="Open Sans Light"/>
              </a:defRPr>
            </a:lvl9pPr>
          </a:lstStyle>
          <a:p/>
        </p:txBody>
      </p:sp>
      <p:pic>
        <p:nvPicPr>
          <p:cNvPr id="22" name="Google Shape;22;p4"/>
          <p:cNvPicPr preferRelativeResize="0"/>
          <p:nvPr/>
        </p:nvPicPr>
        <p:blipFill rotWithShape="1">
          <a:blip r:embed="rId2">
            <a:alphaModFix/>
          </a:blip>
          <a:srcRect b="0" l="0" r="0" t="0"/>
          <a:stretch/>
        </p:blipFill>
        <p:spPr>
          <a:xfrm>
            <a:off x="7020199" y="154300"/>
            <a:ext cx="530400" cy="5304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Slide">
  <p:cSld name="SECTION_HEADER_1_1_2">
    <p:bg>
      <p:bgPr>
        <a:solidFill>
          <a:schemeClr val="lt1"/>
        </a:solidFill>
      </p:bgPr>
    </p:bg>
    <p:spTree>
      <p:nvGrpSpPr>
        <p:cNvPr id="23" name="Shape 23"/>
        <p:cNvGrpSpPr/>
        <p:nvPr/>
      </p:nvGrpSpPr>
      <p:grpSpPr>
        <a:xfrm>
          <a:off x="0" y="0"/>
          <a:ext cx="0" cy="0"/>
          <a:chOff x="0" y="0"/>
          <a:chExt cx="0" cy="0"/>
        </a:xfrm>
      </p:grpSpPr>
      <p:sp>
        <p:nvSpPr>
          <p:cNvPr id="24" name="Google Shape;24;p5"/>
          <p:cNvSpPr txBox="1"/>
          <p:nvPr/>
        </p:nvSpPr>
        <p:spPr>
          <a:xfrm>
            <a:off x="0" y="0"/>
            <a:ext cx="7772400" cy="795900"/>
          </a:xfrm>
          <a:prstGeom prst="rect">
            <a:avLst/>
          </a:prstGeom>
          <a:solidFill>
            <a:srgbClr val="DBE2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2200">
                <a:solidFill>
                  <a:srgbClr val="15C26B"/>
                </a:solidFill>
                <a:latin typeface="Open Sans"/>
                <a:ea typeface="Open Sans"/>
                <a:cs typeface="Open Sans"/>
                <a:sym typeface="Open Sans"/>
              </a:rPr>
              <a:t>Project Information Slide</a:t>
            </a:r>
            <a:endParaRPr b="1" i="1" sz="2200">
              <a:solidFill>
                <a:srgbClr val="15C26B"/>
              </a:solidFill>
              <a:latin typeface="Open Sans"/>
              <a:ea typeface="Open Sans"/>
              <a:cs typeface="Open Sans"/>
              <a:sym typeface="Open Sans"/>
            </a:endParaRPr>
          </a:p>
        </p:txBody>
      </p:sp>
      <p:sp>
        <p:nvSpPr>
          <p:cNvPr id="25" name="Google Shape;25;p5"/>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lvl1pPr lvl="0" rtl="0">
              <a:spcBef>
                <a:spcPts val="0"/>
              </a:spcBef>
              <a:spcAft>
                <a:spcPts val="0"/>
              </a:spcAft>
              <a:buSzPts val="3200"/>
              <a:buFont typeface="Open Sans Light"/>
              <a:buNone/>
              <a:defRPr sz="3200">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6" name="Google Shape;26;p5"/>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Font typeface="Open Sans Light"/>
              <a:buChar char="●"/>
              <a:defRPr>
                <a:latin typeface="Open Sans Light"/>
                <a:ea typeface="Open Sans Light"/>
                <a:cs typeface="Open Sans Light"/>
                <a:sym typeface="Open Sans Light"/>
              </a:defRPr>
            </a:lvl1pPr>
            <a:lvl2pPr indent="-342900" lvl="1" marL="914400" rtl="0">
              <a:spcBef>
                <a:spcPts val="1600"/>
              </a:spcBef>
              <a:spcAft>
                <a:spcPts val="0"/>
              </a:spcAft>
              <a:buSzPts val="1800"/>
              <a:buFont typeface="Open Sans Light"/>
              <a:buChar char="○"/>
              <a:defRPr sz="1800">
                <a:latin typeface="Open Sans Light"/>
                <a:ea typeface="Open Sans Light"/>
                <a:cs typeface="Open Sans Light"/>
                <a:sym typeface="Open Sans Light"/>
              </a:defRPr>
            </a:lvl2pPr>
            <a:lvl3pPr indent="-342900" lvl="2" marL="1371600" rtl="0">
              <a:spcBef>
                <a:spcPts val="1600"/>
              </a:spcBef>
              <a:spcAft>
                <a:spcPts val="0"/>
              </a:spcAft>
              <a:buSzPts val="1800"/>
              <a:buFont typeface="Open Sans Light"/>
              <a:buChar char="■"/>
              <a:defRPr sz="1800">
                <a:latin typeface="Open Sans Light"/>
                <a:ea typeface="Open Sans Light"/>
                <a:cs typeface="Open Sans Light"/>
                <a:sym typeface="Open Sans Light"/>
              </a:defRPr>
            </a:lvl3pPr>
            <a:lvl4pPr indent="-342900" lvl="3" marL="1828800" rtl="0">
              <a:spcBef>
                <a:spcPts val="1600"/>
              </a:spcBef>
              <a:spcAft>
                <a:spcPts val="0"/>
              </a:spcAft>
              <a:buSzPts val="1800"/>
              <a:buFont typeface="Open Sans Light"/>
              <a:buChar char="●"/>
              <a:defRPr sz="1800">
                <a:latin typeface="Open Sans Light"/>
                <a:ea typeface="Open Sans Light"/>
                <a:cs typeface="Open Sans Light"/>
                <a:sym typeface="Open Sans Light"/>
              </a:defRPr>
            </a:lvl4pPr>
            <a:lvl5pPr indent="-342900" lvl="4" marL="2286000" rtl="0">
              <a:spcBef>
                <a:spcPts val="1600"/>
              </a:spcBef>
              <a:spcAft>
                <a:spcPts val="0"/>
              </a:spcAft>
              <a:buSzPts val="1800"/>
              <a:buFont typeface="Open Sans Light"/>
              <a:buChar char="○"/>
              <a:defRPr sz="1800">
                <a:latin typeface="Open Sans Light"/>
                <a:ea typeface="Open Sans Light"/>
                <a:cs typeface="Open Sans Light"/>
                <a:sym typeface="Open Sans Light"/>
              </a:defRPr>
            </a:lvl5pPr>
            <a:lvl6pPr indent="-342900" lvl="5" marL="2743200" rtl="0">
              <a:spcBef>
                <a:spcPts val="1600"/>
              </a:spcBef>
              <a:spcAft>
                <a:spcPts val="0"/>
              </a:spcAft>
              <a:buSzPts val="1800"/>
              <a:buFont typeface="Open Sans Light"/>
              <a:buChar char="■"/>
              <a:defRPr sz="1800">
                <a:latin typeface="Open Sans Light"/>
                <a:ea typeface="Open Sans Light"/>
                <a:cs typeface="Open Sans Light"/>
                <a:sym typeface="Open Sans Light"/>
              </a:defRPr>
            </a:lvl6pPr>
            <a:lvl7pPr indent="-342900" lvl="6" marL="3200400" rtl="0">
              <a:spcBef>
                <a:spcPts val="1600"/>
              </a:spcBef>
              <a:spcAft>
                <a:spcPts val="0"/>
              </a:spcAft>
              <a:buSzPts val="1800"/>
              <a:buFont typeface="Open Sans Light"/>
              <a:buChar char="●"/>
              <a:defRPr sz="1800">
                <a:latin typeface="Open Sans Light"/>
                <a:ea typeface="Open Sans Light"/>
                <a:cs typeface="Open Sans Light"/>
                <a:sym typeface="Open Sans Light"/>
              </a:defRPr>
            </a:lvl7pPr>
            <a:lvl8pPr indent="-342900" lvl="7" marL="3657600" rtl="0">
              <a:spcBef>
                <a:spcPts val="1600"/>
              </a:spcBef>
              <a:spcAft>
                <a:spcPts val="0"/>
              </a:spcAft>
              <a:buSzPts val="1800"/>
              <a:buFont typeface="Open Sans Light"/>
              <a:buChar char="○"/>
              <a:defRPr sz="1800">
                <a:latin typeface="Open Sans Light"/>
                <a:ea typeface="Open Sans Light"/>
                <a:cs typeface="Open Sans Light"/>
                <a:sym typeface="Open Sans Light"/>
              </a:defRPr>
            </a:lvl8pPr>
            <a:lvl9pPr indent="-342900" lvl="8" marL="4114800" rtl="0">
              <a:spcBef>
                <a:spcPts val="1600"/>
              </a:spcBef>
              <a:spcAft>
                <a:spcPts val="1600"/>
              </a:spcAft>
              <a:buSzPts val="1800"/>
              <a:buFont typeface="Open Sans Light"/>
              <a:buChar char="■"/>
              <a:defRPr sz="1800">
                <a:latin typeface="Open Sans Light"/>
                <a:ea typeface="Open Sans Light"/>
                <a:cs typeface="Open Sans Light"/>
                <a:sym typeface="Open Sans Ligh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work slide">
  <p:cSld name="SECTION_HEADER_1_1_2_1">
    <p:bg>
      <p:bgPr>
        <a:solidFill>
          <a:schemeClr val="lt1"/>
        </a:solidFill>
      </p:bgPr>
    </p:bg>
    <p:spTree>
      <p:nvGrpSpPr>
        <p:cNvPr id="27" name="Shape 27"/>
        <p:cNvGrpSpPr/>
        <p:nvPr/>
      </p:nvGrpSpPr>
      <p:grpSpPr>
        <a:xfrm>
          <a:off x="0" y="0"/>
          <a:ext cx="0" cy="0"/>
          <a:chOff x="0" y="0"/>
          <a:chExt cx="0" cy="0"/>
        </a:xfrm>
      </p:grpSpPr>
      <p:sp>
        <p:nvSpPr>
          <p:cNvPr id="28" name="Google Shape;28;p6"/>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42900" lvl="3" marL="1828800" rtl="0">
              <a:spcBef>
                <a:spcPts val="1600"/>
              </a:spcBef>
              <a:spcAft>
                <a:spcPts val="0"/>
              </a:spcAft>
              <a:buSzPts val="1800"/>
              <a:buChar char="●"/>
              <a:defRPr sz="1800"/>
            </a:lvl4pPr>
            <a:lvl5pPr indent="-342900" lvl="4" marL="2286000" rtl="0">
              <a:spcBef>
                <a:spcPts val="1600"/>
              </a:spcBef>
              <a:spcAft>
                <a:spcPts val="0"/>
              </a:spcAft>
              <a:buSzPts val="1800"/>
              <a:buChar char="○"/>
              <a:defRPr sz="1800"/>
            </a:lvl5pPr>
            <a:lvl6pPr indent="-342900" lvl="5" marL="2743200" rtl="0">
              <a:spcBef>
                <a:spcPts val="1600"/>
              </a:spcBef>
              <a:spcAft>
                <a:spcPts val="0"/>
              </a:spcAft>
              <a:buSzPts val="1800"/>
              <a:buChar char="■"/>
              <a:defRPr sz="1800"/>
            </a:lvl6pPr>
            <a:lvl7pPr indent="-342900" lvl="6" marL="3200400" rtl="0">
              <a:spcBef>
                <a:spcPts val="1600"/>
              </a:spcBef>
              <a:spcAft>
                <a:spcPts val="0"/>
              </a:spcAft>
              <a:buSzPts val="1800"/>
              <a:buChar char="●"/>
              <a:defRPr sz="1800"/>
            </a:lvl7pPr>
            <a:lvl8pPr indent="-342900" lvl="7" marL="3657600" rtl="0">
              <a:spcBef>
                <a:spcPts val="1600"/>
              </a:spcBef>
              <a:spcAft>
                <a:spcPts val="0"/>
              </a:spcAft>
              <a:buSzPts val="1800"/>
              <a:buChar char="○"/>
              <a:defRPr sz="1800"/>
            </a:lvl8pPr>
            <a:lvl9pPr indent="-342900" lvl="8" marL="4114800" rtl="0">
              <a:spcBef>
                <a:spcPts val="1600"/>
              </a:spcBef>
              <a:spcAft>
                <a:spcPts val="1600"/>
              </a:spcAft>
              <a:buSzPts val="1800"/>
              <a:buChar char="■"/>
              <a:defRPr sz="1800"/>
            </a:lvl9pPr>
          </a:lstStyle>
          <a:p/>
        </p:txBody>
      </p:sp>
      <p:pic>
        <p:nvPicPr>
          <p:cNvPr id="29" name="Google Shape;29;p6"/>
          <p:cNvPicPr preferRelativeResize="0"/>
          <p:nvPr/>
        </p:nvPicPr>
        <p:blipFill rotWithShape="1">
          <a:blip r:embed="rId2">
            <a:alphaModFix/>
          </a:blip>
          <a:srcRect b="0" l="0" r="0" t="0"/>
          <a:stretch/>
        </p:blipFill>
        <p:spPr>
          <a:xfrm>
            <a:off x="7020199" y="154300"/>
            <a:ext cx="530400" cy="530400"/>
          </a:xfrm>
          <a:prstGeom prst="rect">
            <a:avLst/>
          </a:prstGeom>
          <a:noFill/>
          <a:ln>
            <a:noFill/>
          </a:ln>
        </p:spPr>
      </p:pic>
      <p:sp>
        <p:nvSpPr>
          <p:cNvPr id="30" name="Google Shape;30;p6"/>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02B3E4"/>
              </a:buClr>
              <a:buSzPts val="3200"/>
              <a:buFont typeface="Open Sans Light"/>
              <a:buNone/>
              <a:defRPr sz="3200">
                <a:solidFill>
                  <a:srgbClr val="02B3E4"/>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rgbClr val="2E3D49"/>
              </a:buClr>
              <a:buSzPts val="3000"/>
              <a:buNone/>
              <a:defRPr sz="3000">
                <a:solidFill>
                  <a:srgbClr val="2E3D49"/>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rgbClr val="525C65"/>
              </a:buClr>
              <a:buSzPts val="1800"/>
              <a:buFont typeface="Open Sans"/>
              <a:buChar char="●"/>
              <a:defRPr sz="1800">
                <a:solidFill>
                  <a:srgbClr val="525C65"/>
                </a:solidFill>
                <a:latin typeface="Open Sans"/>
                <a:ea typeface="Open Sans"/>
                <a:cs typeface="Open Sans"/>
                <a:sym typeface="Open Sans"/>
              </a:defRPr>
            </a:lvl1pPr>
            <a:lvl2pPr indent="-317500" lvl="1" marL="9144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2pPr>
            <a:lvl3pPr indent="-317500" lvl="2" marL="13716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3pPr>
            <a:lvl4pPr indent="-317500" lvl="3" marL="18288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4pPr>
            <a:lvl5pPr indent="-317500" lvl="4" marL="22860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5pPr>
            <a:lvl6pPr indent="-317500" lvl="5" marL="27432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6pPr>
            <a:lvl7pPr indent="-317500" lvl="6" marL="32004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7pPr>
            <a:lvl8pPr indent="-317500" lvl="7" marL="36576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8pPr>
            <a:lvl9pPr indent="-317500" lvl="8" marL="4114800" rtl="0">
              <a:lnSpc>
                <a:spcPct val="115000"/>
              </a:lnSpc>
              <a:spcBef>
                <a:spcPts val="1600"/>
              </a:spcBef>
              <a:spcAft>
                <a:spcPts val="1600"/>
              </a:spcAft>
              <a:buClr>
                <a:srgbClr val="525C65"/>
              </a:buClr>
              <a:buSzPts val="1400"/>
              <a:buFont typeface="Open Sans"/>
              <a:buChar char="■"/>
              <a:defRPr>
                <a:solidFill>
                  <a:srgbClr val="525C65"/>
                </a:solidFill>
                <a:latin typeface="Open Sans"/>
                <a:ea typeface="Open Sans"/>
                <a:cs typeface="Open Sans"/>
                <a:sym typeface="Open Sans"/>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p:nvPr/>
        </p:nvSpPr>
        <p:spPr>
          <a:xfrm>
            <a:off x="-11" y="964431"/>
            <a:ext cx="32400" cy="931500"/>
          </a:xfrm>
          <a:prstGeom prst="rect">
            <a:avLst/>
          </a:prstGeom>
          <a:solidFill>
            <a:srgbClr val="15C26B"/>
          </a:solidFill>
          <a:ln>
            <a:noFill/>
          </a:ln>
        </p:spPr>
        <p:txBody>
          <a:bodyPr anchorCtr="0" anchor="ctr" bIns="26775" lIns="26775" spcFirstLastPara="1" rIns="26775" wrap="square" tIns="26775">
            <a:noAutofit/>
          </a:bodyPr>
          <a:lstStyle/>
          <a:p>
            <a:pPr indent="0" lvl="0" marL="0" marR="0" rtl="0" algn="ctr">
              <a:lnSpc>
                <a:spcPct val="100000"/>
              </a:lnSpc>
              <a:spcBef>
                <a:spcPts val="0"/>
              </a:spcBef>
              <a:spcAft>
                <a:spcPts val="0"/>
              </a:spcAft>
              <a:buClr>
                <a:srgbClr val="FFFFFF"/>
              </a:buClr>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5.jpg"/><Relationship Id="rId4" Type="http://schemas.openxmlformats.org/officeDocument/2006/relationships/image" Target="../media/image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hyperlink" Target="http://trello.com" TargetMode="External"/><Relationship Id="rId4" Type="http://schemas.openxmlformats.org/officeDocument/2006/relationships/image" Target="../media/image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id="35" name="Google Shape;35;p7"/>
          <p:cNvPicPr preferRelativeResize="0"/>
          <p:nvPr/>
        </p:nvPicPr>
        <p:blipFill rotWithShape="1">
          <a:blip r:embed="rId3">
            <a:alphaModFix/>
          </a:blip>
          <a:srcRect b="9431" l="0" r="0" t="7691"/>
          <a:stretch/>
        </p:blipFill>
        <p:spPr>
          <a:xfrm>
            <a:off x="50" y="2180100"/>
            <a:ext cx="7772401" cy="6441620"/>
          </a:xfrm>
          <a:prstGeom prst="rect">
            <a:avLst/>
          </a:prstGeom>
          <a:noFill/>
          <a:ln>
            <a:noFill/>
          </a:ln>
        </p:spPr>
      </p:pic>
      <p:sp>
        <p:nvSpPr>
          <p:cNvPr id="36" name="Google Shape;36;p7"/>
          <p:cNvSpPr txBox="1"/>
          <p:nvPr>
            <p:ph idx="2" type="title"/>
          </p:nvPr>
        </p:nvSpPr>
        <p:spPr>
          <a:xfrm>
            <a:off x="264895" y="8409771"/>
            <a:ext cx="7242600" cy="1119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sz="3200" b="0">
                <a:solidFill>
                  <a:srgbClr val="FFFFFF"/>
                </a:solidFill>
                <a:latin typeface="Arial"/>
              </a:rPr>
              <a:t>From Methodology to Execution</a:t>
            </a:r>
            <a:endParaRPr/>
          </a:p>
        </p:txBody>
      </p:sp>
      <p:sp>
        <p:nvSpPr>
          <p:cNvPr id="37" name="Google Shape;37;p7"/>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Digital Project Management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8"/>
          <p:cNvSpPr txBox="1"/>
          <p:nvPr>
            <p:ph type="title"/>
          </p:nvPr>
        </p:nvSpPr>
        <p:spPr>
          <a:xfrm>
            <a:off x="264900" y="2160200"/>
            <a:ext cx="7242600" cy="255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 Scenario</a:t>
            </a:r>
            <a:endParaRPr/>
          </a:p>
        </p:txBody>
      </p:sp>
      <p:sp>
        <p:nvSpPr>
          <p:cNvPr id="43" name="Google Shape;43;p8"/>
          <p:cNvSpPr txBox="1"/>
          <p:nvPr>
            <p:ph idx="4294967295"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Digital Project Management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9"/>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Overview</a:t>
            </a:r>
            <a:endParaRPr/>
          </a:p>
        </p:txBody>
      </p:sp>
      <p:sp>
        <p:nvSpPr>
          <p:cNvPr id="49" name="Google Shape;49;p9"/>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You are a project manager for Yosemite, an eCommerce company that integrates brick-and-mortar stores onto its platform for a fee. You have been assigned to work with The Stefano Shop, a family-run business that had been a local success but was struggling to stay open. The primary business goal is to digitize the store’s operations and sales and complete this project in a maximum of 12 weeks.</a:t>
            </a:r>
            <a:endParaRPr/>
          </a:p>
          <a:p>
            <a:pPr indent="0" lvl="0" marL="0" rtl="0" algn="l">
              <a:spcBef>
                <a:spcPts val="1600"/>
              </a:spcBef>
              <a:spcAft>
                <a:spcPts val="0"/>
              </a:spcAft>
              <a:buNone/>
            </a:pPr>
            <a:r>
              <a:rPr lang="en"/>
              <a:t>Integrating The Stefano Shop into Yosemite means building the following features: </a:t>
            </a:r>
            <a:endParaRPr/>
          </a:p>
          <a:p>
            <a:pPr indent="-342900" lvl="0" marL="457200" rtl="0" algn="l">
              <a:spcBef>
                <a:spcPts val="1600"/>
              </a:spcBef>
              <a:spcAft>
                <a:spcPts val="0"/>
              </a:spcAft>
              <a:buSzPts val="1800"/>
              <a:buChar char="●"/>
            </a:pPr>
            <a:r>
              <a:rPr lang="en"/>
              <a:t>A storefront on the platform, </a:t>
            </a:r>
            <a:endParaRPr/>
          </a:p>
          <a:p>
            <a:pPr indent="-342900" lvl="0" marL="457200" rtl="0" algn="l">
              <a:spcBef>
                <a:spcPts val="0"/>
              </a:spcBef>
              <a:spcAft>
                <a:spcPts val="0"/>
              </a:spcAft>
              <a:buSzPts val="1800"/>
              <a:buChar char="●"/>
            </a:pPr>
            <a:r>
              <a:rPr lang="en"/>
              <a:t>A social media integration, and </a:t>
            </a:r>
            <a:endParaRPr/>
          </a:p>
          <a:p>
            <a:pPr indent="-342900" lvl="0" marL="457200" rtl="0" algn="l">
              <a:spcBef>
                <a:spcPts val="0"/>
              </a:spcBef>
              <a:spcAft>
                <a:spcPts val="0"/>
              </a:spcAft>
              <a:buSzPts val="1800"/>
              <a:buChar char="●"/>
            </a:pPr>
            <a:r>
              <a:rPr lang="en"/>
              <a:t>A recommendation engine. </a:t>
            </a:r>
            <a:endParaRPr/>
          </a:p>
          <a:p>
            <a:pPr indent="0" lvl="0" marL="0" rtl="0" algn="l">
              <a:spcBef>
                <a:spcPts val="1600"/>
              </a:spcBef>
              <a:spcAft>
                <a:spcPts val="0"/>
              </a:spcAft>
              <a:buNone/>
            </a:pPr>
            <a:r>
              <a:rPr lang="en"/>
              <a:t>The Stefano family, which consists of Papa Stefano, Mama Stefano, and Junior Stefano, will also require the training and knowledge to operate their digital store once it has been developed.</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0"/>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 Budget</a:t>
            </a:r>
            <a:endParaRPr/>
          </a:p>
        </p:txBody>
      </p:sp>
      <p:sp>
        <p:nvSpPr>
          <p:cNvPr id="55" name="Google Shape;55;p10"/>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Yosemite storefront, training, and documentation can be delivered for $15,000 - a tight budget for the Stefanos. So Papa Stefano asked that you include a cost-benefit analysis in the project scope to reassure him this is a good investment.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For the cost-benefit analysis, your research shows:</a:t>
            </a:r>
            <a:endParaRPr/>
          </a:p>
          <a:p>
            <a:pPr indent="-298450" lvl="0" marL="457200" rtl="0" algn="l">
              <a:spcBef>
                <a:spcPts val="0"/>
              </a:spcBef>
              <a:spcAft>
                <a:spcPts val="0"/>
              </a:spcAft>
              <a:buClr>
                <a:srgbClr val="0E101A"/>
              </a:buClr>
              <a:buSzPts val="1100"/>
              <a:buFont typeface="Arial"/>
              <a:buChar char="●"/>
            </a:pPr>
            <a:r>
              <a:rPr lang="en"/>
              <a:t>The eCommerce industry </a:t>
            </a:r>
            <a:r>
              <a:rPr b="1" lang="en">
                <a:latin typeface="Open Sans"/>
                <a:ea typeface="Open Sans"/>
                <a:cs typeface="Open Sans"/>
                <a:sym typeface="Open Sans"/>
              </a:rPr>
              <a:t>discount rate is 20%</a:t>
            </a:r>
            <a:endParaRPr b="1">
              <a:latin typeface="Open Sans"/>
              <a:ea typeface="Open Sans"/>
              <a:cs typeface="Open Sans"/>
              <a:sym typeface="Open Sans"/>
            </a:endParaRPr>
          </a:p>
          <a:p>
            <a:pPr indent="-298450" lvl="0" marL="457200" rtl="0" algn="l">
              <a:spcBef>
                <a:spcPts val="0"/>
              </a:spcBef>
              <a:spcAft>
                <a:spcPts val="0"/>
              </a:spcAft>
              <a:buClr>
                <a:srgbClr val="0E101A"/>
              </a:buClr>
              <a:buSzPts val="1100"/>
              <a:buFont typeface="Arial"/>
              <a:buChar char="●"/>
            </a:pPr>
            <a:r>
              <a:rPr lang="en"/>
              <a:t>Yosemite promises a </a:t>
            </a:r>
            <a:r>
              <a:rPr b="1" lang="en">
                <a:latin typeface="Open Sans"/>
                <a:ea typeface="Open Sans"/>
                <a:cs typeface="Open Sans"/>
                <a:sym typeface="Open Sans"/>
              </a:rPr>
              <a:t>$36,000 increase</a:t>
            </a:r>
            <a:r>
              <a:rPr lang="en"/>
              <a:t> in revenue</a:t>
            </a:r>
            <a:endParaRPr/>
          </a:p>
          <a:p>
            <a:pPr indent="-298450" lvl="0" marL="457200" rtl="0" algn="l">
              <a:spcBef>
                <a:spcPts val="0"/>
              </a:spcBef>
              <a:spcAft>
                <a:spcPts val="0"/>
              </a:spcAft>
              <a:buClr>
                <a:srgbClr val="0E101A"/>
              </a:buClr>
              <a:buSzPts val="1100"/>
              <a:buFont typeface="Arial"/>
              <a:buChar char="●"/>
            </a:pPr>
            <a:r>
              <a:rPr lang="en"/>
              <a:t>The </a:t>
            </a:r>
            <a:r>
              <a:rPr b="1" lang="en">
                <a:latin typeface="Open Sans"/>
                <a:ea typeface="Open Sans"/>
                <a:cs typeface="Open Sans"/>
                <a:sym typeface="Open Sans"/>
              </a:rPr>
              <a:t>cost </a:t>
            </a:r>
            <a:r>
              <a:rPr lang="en"/>
              <a:t>of the project is </a:t>
            </a:r>
            <a:r>
              <a:rPr b="1" lang="en">
                <a:latin typeface="Open Sans"/>
                <a:ea typeface="Open Sans"/>
                <a:cs typeface="Open Sans"/>
                <a:sym typeface="Open Sans"/>
              </a:rPr>
              <a:t>$15,000</a:t>
            </a:r>
            <a:endParaRPr b="1" sz="1100">
              <a:solidFill>
                <a:srgbClr val="0E101A"/>
              </a:solidFill>
              <a:latin typeface="Arial"/>
              <a:ea typeface="Arial"/>
              <a:cs typeface="Arial"/>
              <a:sym typeface="Arial"/>
            </a:endParaRPr>
          </a:p>
          <a:p>
            <a:pPr indent="0" lvl="0" marL="0" rtl="0" algn="l">
              <a:spcBef>
                <a:spcPts val="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1"/>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Yosemite teams and </a:t>
            </a:r>
            <a:r>
              <a:rPr lang="en"/>
              <a:t>tasks</a:t>
            </a:r>
            <a:endParaRPr/>
          </a:p>
        </p:txBody>
      </p:sp>
      <p:sp>
        <p:nvSpPr>
          <p:cNvPr id="61" name="Google Shape;61;p11"/>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latin typeface="Open Sans"/>
                <a:ea typeface="Open Sans"/>
                <a:cs typeface="Open Sans"/>
                <a:sym typeface="Open Sans"/>
              </a:rPr>
              <a:t>Aliyah - </a:t>
            </a:r>
            <a:r>
              <a:rPr b="1" lang="en">
                <a:latin typeface="Open Sans"/>
                <a:ea typeface="Open Sans"/>
                <a:cs typeface="Open Sans"/>
                <a:sym typeface="Open Sans"/>
              </a:rPr>
              <a:t>Engineering Manager</a:t>
            </a:r>
            <a:endParaRPr b="1">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t>Tasks: </a:t>
            </a:r>
            <a:endParaRPr/>
          </a:p>
          <a:p>
            <a:pPr indent="-298450" lvl="0" marL="457200" rtl="0" algn="l">
              <a:spcBef>
                <a:spcPts val="0"/>
              </a:spcBef>
              <a:spcAft>
                <a:spcPts val="0"/>
              </a:spcAft>
              <a:buClr>
                <a:srgbClr val="0E101A"/>
              </a:buClr>
              <a:buSzPts val="1100"/>
              <a:buFont typeface="Arial"/>
              <a:buChar char="●"/>
            </a:pPr>
            <a:r>
              <a:rPr lang="en"/>
              <a:t>Build storefront</a:t>
            </a:r>
            <a:endParaRPr/>
          </a:p>
          <a:p>
            <a:pPr indent="-298450" lvl="0" marL="457200" rtl="0" algn="l">
              <a:spcBef>
                <a:spcPts val="0"/>
              </a:spcBef>
              <a:spcAft>
                <a:spcPts val="0"/>
              </a:spcAft>
              <a:buClr>
                <a:srgbClr val="0E101A"/>
              </a:buClr>
              <a:buSzPts val="1100"/>
              <a:buFont typeface="Arial"/>
              <a:buChar char="●"/>
            </a:pPr>
            <a:r>
              <a:rPr lang="en"/>
              <a:t>Build social media integration</a:t>
            </a:r>
            <a:endParaRPr/>
          </a:p>
          <a:p>
            <a:pPr indent="-298450" lvl="0" marL="457200" rtl="0" algn="l">
              <a:spcBef>
                <a:spcPts val="0"/>
              </a:spcBef>
              <a:spcAft>
                <a:spcPts val="0"/>
              </a:spcAft>
              <a:buClr>
                <a:srgbClr val="0E101A"/>
              </a:buClr>
              <a:buSzPts val="1100"/>
              <a:buFont typeface="Arial"/>
              <a:buChar char="●"/>
            </a:pPr>
            <a:r>
              <a:rPr lang="en"/>
              <a:t>Build recommendation engine. </a:t>
            </a:r>
            <a:endParaRPr/>
          </a:p>
          <a:p>
            <a:pPr indent="-298450" lvl="0" marL="457200" rtl="0" algn="l">
              <a:spcBef>
                <a:spcPts val="0"/>
              </a:spcBef>
              <a:spcAft>
                <a:spcPts val="0"/>
              </a:spcAft>
              <a:buClr>
                <a:srgbClr val="0E101A"/>
              </a:buClr>
              <a:buSzPts val="1100"/>
              <a:buFont typeface="Arial"/>
              <a:buChar char="●"/>
            </a:pPr>
            <a:r>
              <a:rPr lang="en"/>
              <a:t>Each task takes two weeks of work. </a:t>
            </a:r>
            <a:endParaRPr/>
          </a:p>
          <a:p>
            <a:pPr indent="-298450" lvl="0" marL="457200" rtl="0" algn="l">
              <a:spcBef>
                <a:spcPts val="0"/>
              </a:spcBef>
              <a:spcAft>
                <a:spcPts val="0"/>
              </a:spcAft>
              <a:buClr>
                <a:srgbClr val="0E101A"/>
              </a:buClr>
              <a:buSzPts val="1100"/>
              <a:buFont typeface="Arial"/>
              <a:buChar char="●"/>
            </a:pPr>
            <a:r>
              <a:rPr lang="en"/>
              <a:t>Each task involves design, build, test, and release.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en">
                <a:latin typeface="Open Sans"/>
                <a:ea typeface="Open Sans"/>
                <a:cs typeface="Open Sans"/>
                <a:sym typeface="Open Sans"/>
              </a:rPr>
              <a:t>Moe - </a:t>
            </a:r>
            <a:r>
              <a:rPr b="1" lang="en">
                <a:latin typeface="Open Sans"/>
                <a:ea typeface="Open Sans"/>
                <a:cs typeface="Open Sans"/>
                <a:sym typeface="Open Sans"/>
              </a:rPr>
              <a:t>Vendor Manager</a:t>
            </a:r>
            <a:endParaRPr b="1">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t>Tasks:</a:t>
            </a:r>
            <a:endParaRPr/>
          </a:p>
          <a:p>
            <a:pPr indent="-298450" lvl="0" marL="457200" rtl="0" algn="l">
              <a:spcBef>
                <a:spcPts val="0"/>
              </a:spcBef>
              <a:spcAft>
                <a:spcPts val="0"/>
              </a:spcAft>
              <a:buClr>
                <a:srgbClr val="0E101A"/>
              </a:buClr>
              <a:buSzPts val="1100"/>
              <a:buFont typeface="Arial"/>
              <a:buChar char="●"/>
            </a:pPr>
            <a:r>
              <a:rPr lang="en"/>
              <a:t>Inputting all inventory data after the storefront is delivered. It takes one week to add the inventory data.</a:t>
            </a:r>
            <a:endParaRPr/>
          </a:p>
          <a:p>
            <a:pPr indent="-298450" lvl="0" marL="457200" rtl="0" algn="l">
              <a:spcBef>
                <a:spcPts val="0"/>
              </a:spcBef>
              <a:spcAft>
                <a:spcPts val="0"/>
              </a:spcAft>
              <a:buClr>
                <a:srgbClr val="0E101A"/>
              </a:buClr>
              <a:buSzPts val="1100"/>
              <a:buFont typeface="Arial"/>
              <a:buChar char="●"/>
            </a:pPr>
            <a:r>
              <a:rPr lang="en"/>
              <a:t>Onboarding and training Stefano's before the store goes live. It takes one week to train them.</a:t>
            </a:r>
            <a:endParaRPr/>
          </a:p>
          <a:p>
            <a:pPr indent="-298450" lvl="0" marL="457200" rtl="0" algn="l">
              <a:spcBef>
                <a:spcPts val="0"/>
              </a:spcBef>
              <a:spcAft>
                <a:spcPts val="0"/>
              </a:spcAft>
              <a:buClr>
                <a:srgbClr val="0E101A"/>
              </a:buClr>
              <a:buSzPts val="1100"/>
              <a:buFont typeface="Arial"/>
              <a:buChar char="●"/>
            </a:pPr>
            <a:r>
              <a:rPr lang="en"/>
              <a:t>Create a custom sales report that is automatically sent to Stefanos during or after the recommendation engine is released. It takes one week to set up the reporting.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en">
                <a:latin typeface="Open Sans"/>
                <a:ea typeface="Open Sans"/>
                <a:cs typeface="Open Sans"/>
                <a:sym typeface="Open Sans"/>
              </a:rPr>
              <a:t>Taylor - </a:t>
            </a:r>
            <a:r>
              <a:rPr b="1" lang="en">
                <a:latin typeface="Open Sans"/>
                <a:ea typeface="Open Sans"/>
                <a:cs typeface="Open Sans"/>
                <a:sym typeface="Open Sans"/>
              </a:rPr>
              <a:t>Marketing Manager</a:t>
            </a:r>
            <a:endParaRPr b="1">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a:t>Tasks:</a:t>
            </a:r>
            <a:endParaRPr/>
          </a:p>
          <a:p>
            <a:pPr indent="-298450" lvl="0" marL="457200" rtl="0" algn="l">
              <a:spcBef>
                <a:spcPts val="0"/>
              </a:spcBef>
              <a:spcAft>
                <a:spcPts val="0"/>
              </a:spcAft>
              <a:buClr>
                <a:srgbClr val="0E101A"/>
              </a:buClr>
              <a:buSzPts val="1100"/>
              <a:buFont typeface="Arial"/>
              <a:buChar char="●"/>
            </a:pPr>
            <a:r>
              <a:rPr lang="en"/>
              <a:t>Creating social media channels and handing them off to Stefano's. It takes a week, but this task must occur before the social media integration by the Engineering team</a:t>
            </a:r>
            <a:r>
              <a:rPr lang="en" sz="1100">
                <a:solidFill>
                  <a:srgbClr val="0E101A"/>
                </a:solidFill>
                <a:latin typeface="Arial"/>
                <a:ea typeface="Arial"/>
                <a:cs typeface="Arial"/>
                <a:sym typeface="Arial"/>
              </a:rPr>
              <a:t>. </a:t>
            </a:r>
            <a:endParaRPr sz="1100">
              <a:solidFill>
                <a:srgbClr val="0E101A"/>
              </a:solidFill>
              <a:latin typeface="Arial"/>
              <a:ea typeface="Arial"/>
              <a:cs typeface="Arial"/>
              <a:sym typeface="Arial"/>
            </a:endParaRPr>
          </a:p>
          <a:p>
            <a:pPr indent="0" lvl="0" marL="0" rtl="0" algn="l">
              <a:spcBef>
                <a:spcPts val="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2"/>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Stefano Family</a:t>
            </a:r>
            <a:endParaRPr/>
          </a:p>
        </p:txBody>
      </p:sp>
      <p:sp>
        <p:nvSpPr>
          <p:cNvPr id="67" name="Google Shape;67;p12"/>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latin typeface="Open Sans"/>
                <a:ea typeface="Open Sans"/>
                <a:cs typeface="Open Sans"/>
                <a:sym typeface="Open Sans"/>
              </a:rPr>
              <a:t>Papa Stefano</a:t>
            </a:r>
            <a:r>
              <a:rPr lang="en"/>
              <a:t> has a strong presence in the family business but listens to Mama Stefano when making business decisions. He manages the floor and is averse to new technology. While he understands it’s time to modernize the shopping experience and wants to gain new customers, he’s wary of going over budget.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b="1" lang="en">
                <a:latin typeface="Open Sans"/>
                <a:ea typeface="Open Sans"/>
                <a:cs typeface="Open Sans"/>
                <a:sym typeface="Open Sans"/>
              </a:rPr>
              <a:t>Mama Stefano</a:t>
            </a:r>
            <a:r>
              <a:rPr lang="en"/>
              <a:t> keeps spreadsheets to track inventory and has convinced Papa to work with Yosemite. Her primary focus is on back-end administrative tasks of the business. Mama is more concerned about preparing the store for Christmas shoppers in time.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b="1" lang="en">
                <a:latin typeface="Open Sans"/>
                <a:ea typeface="Open Sans"/>
                <a:cs typeface="Open Sans"/>
                <a:sym typeface="Open Sans"/>
              </a:rPr>
              <a:t>Junior Stefano</a:t>
            </a:r>
            <a:r>
              <a:rPr lang="en"/>
              <a:t> is a high school student still learning about the family business. Junior creates social media posts on her own accounts for the store. Sees value in taking full advantage of Yosemite’s services.</a:t>
            </a:r>
            <a:endParaRPr/>
          </a:p>
          <a:p>
            <a:pPr indent="0" lvl="0" marL="0" rtl="0" algn="l">
              <a:lnSpc>
                <a:spcPct val="100000"/>
              </a:lnSpc>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Yosemite team</a:t>
            </a:r>
            <a:endParaRPr/>
          </a:p>
        </p:txBody>
      </p:sp>
      <p:sp>
        <p:nvSpPr>
          <p:cNvPr id="73" name="Google Shape;73;p13"/>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latin typeface="Open Sans"/>
                <a:ea typeface="Open Sans"/>
                <a:cs typeface="Open Sans"/>
                <a:sym typeface="Open Sans"/>
              </a:rPr>
              <a:t>Moe </a:t>
            </a:r>
            <a:r>
              <a:rPr lang="en"/>
              <a:t>is the Yosemite Vendor Manager; he tends to be enthusiastic about upselling customers with additional services, not mindful of budget. Moe primarily focuses on promoting and coordinating Yosemite's services, which is part of the overall project. Additionally, this project is one of many he works on.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b="1" lang="en">
                <a:latin typeface="Open Sans"/>
                <a:ea typeface="Open Sans"/>
                <a:cs typeface="Open Sans"/>
                <a:sym typeface="Open Sans"/>
              </a:rPr>
              <a:t>Aliyah </a:t>
            </a:r>
            <a:r>
              <a:rPr lang="en"/>
              <a:t>is the Yosemite Engineering Manager, experienced and skilled. She prefers to work in Agile sprints but understands that not all customers can keep up with that pace. Her expertise in developing and implementing technical solutions enables her to guide the project's timeline and execution strategy, making her vital in determining the project's overall direction and progress.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None/>
            </a:pPr>
            <a:r>
              <a:rPr b="1" lang="en">
                <a:latin typeface="Open Sans"/>
                <a:ea typeface="Open Sans"/>
                <a:cs typeface="Open Sans"/>
                <a:sym typeface="Open Sans"/>
              </a:rPr>
              <a:t>Taylor</a:t>
            </a:r>
            <a:r>
              <a:rPr lang="en"/>
              <a:t>, the Yosemite Marketing Manager, tends to take on too many assignments and can delay completing tasks. Taylor often needs to be informed of their assignments ahead of time. His role and contributions are limited to supporting the implementation of this project's marketing plans.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b="1" lang="en">
                <a:latin typeface="Open Sans"/>
                <a:ea typeface="Open Sans"/>
                <a:cs typeface="Open Sans"/>
                <a:sym typeface="Open Sans"/>
              </a:rPr>
              <a:t>Lou </a:t>
            </a:r>
            <a:r>
              <a:rPr lang="en"/>
              <a:t>is the Yosemite Small Business Program Manager and oversees all accounts under the Small Business category. You report directly to Lou. Lou only keeps a high-level overview of this project and its progress. He wants to showcase your project to the entire company if all goes well and expect regular communication, especially when things go wrong.</a:t>
            </a:r>
            <a:endParaRPr/>
          </a:p>
          <a:p>
            <a:pPr indent="0" lvl="0" marL="0" marR="0" rtl="0" algn="l">
              <a:lnSpc>
                <a:spcPct val="100000"/>
              </a:lnSpc>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title"/>
          </p:nvPr>
        </p:nvSpPr>
        <p:spPr>
          <a:xfrm>
            <a:off x="264900" y="2160200"/>
            <a:ext cx="7242600" cy="255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Step One:</a:t>
            </a:r>
            <a:endParaRPr/>
          </a:p>
          <a:p>
            <a:pPr indent="0" lvl="0" marL="0" rtl="0" algn="l">
              <a:spcBef>
                <a:spcPts val="0"/>
              </a:spcBef>
              <a:spcAft>
                <a:spcPts val="0"/>
              </a:spcAft>
              <a:buNone/>
            </a:pPr>
            <a:r>
              <a:rPr lang="en"/>
              <a:t>Project Scope</a:t>
            </a:r>
            <a:endParaRPr/>
          </a:p>
        </p:txBody>
      </p:sp>
      <p:sp>
        <p:nvSpPr>
          <p:cNvPr id="79" name="Google Shape;79;p14"/>
          <p:cNvSpPr txBox="1"/>
          <p:nvPr>
            <p:ph idx="4294967295"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Digital Project Management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Objectives, milestones, and resources</a:t>
            </a:r>
            <a:endParaRPr/>
          </a:p>
        </p:txBody>
      </p:sp>
      <p:graphicFrame>
        <p:nvGraphicFramePr>
          <p:cNvPr id="85" name="Google Shape;85;p15"/>
          <p:cNvGraphicFramePr/>
          <p:nvPr/>
        </p:nvGraphicFramePr>
        <p:xfrm>
          <a:off x="264900" y="2253750"/>
          <a:ext cx="3000000" cy="3000000"/>
        </p:xfrm>
        <a:graphic>
          <a:graphicData uri="http://schemas.openxmlformats.org/drawingml/2006/table">
            <a:tbl>
              <a:tblPr>
                <a:noFill/>
                <a:tableStyleId>{C82BA829-6A89-494B-93C7-34DF5BC7DE1F}</a:tableStyleId>
              </a:tblPr>
              <a:tblGrid>
                <a:gridCol w="7242600"/>
              </a:tblGrid>
              <a:tr h="100000">
                <a:tc>
                  <a:txBody>
                    <a:bodyPr wrap="square">
                      <a:normAutofit/>
                    </a:bodyPr>
                    <a:lstStyle/>
                    <a:p>
                      <a:pPr indent="0" lvl="0" marL="0" rtl="0" algn="l">
                        <a:lnSpc>
                          <a:spcPct val="115000"/>
                        </a:lnSpc>
                        <a:spcBef>
                          <a:spcPts val="0"/>
                        </a:spcBef>
                        <a:spcAft>
                          <a:spcPts val="0"/>
                        </a:spcAft>
                        <a:buClr>
                          <a:schemeClr val="dk1"/>
                        </a:buClr>
                        <a:buSzPts val="1100"/>
                        <a:buFont typeface="Arial"/>
                        <a:buNone/>
                      </a:pPr>
                      <a:r>
                        <a:rPr sz="1200" b="1">
                          <a:solidFill>
                            <a:srgbClr val="000000"/>
                          </a:solidFill>
                          <a:latin typeface="Arial"/>
                        </a:rPr>
                        <a:t>Describe the business objectives of the project in 1-2 sentences</a:t>
                      </a:r>
                      <a:endParaRPr>
                        <a:latin typeface="Open Sans"/>
                        <a:ea typeface="Open Sans"/>
                        <a:cs typeface="Open Sans"/>
                        <a:sym typeface="Open Sans"/>
                      </a:endParaRPr>
                    </a:p>
                  </a:txBody>
                  <a:tcPr marT="38100" marB="38100" marR="50800" marL="50800">
                    <a:solidFill>
                      <a:srgbClr val="E0F2FE"/>
                    </a:solidFill>
                  </a:tcPr>
                </a:tc>
              </a:tr>
              <a:tr h="1654900">
                <a:tc>
                  <a:txBody>
                    <a:bodyPr wrap="square">
                      <a:normAutofit/>
                    </a:bodyPr>
                    <a:lstStyle/>
                    <a:p>
                      <a:pPr indent="0" lvl="0" marL="0" rtl="0" algn="l">
                        <a:spcBef>
                          <a:spcPts val="0"/>
                        </a:spcBef>
                        <a:spcAft>
                          <a:spcPts val="0"/>
                        </a:spcAft>
                        <a:buNone/>
                      </a:pPr>
                      <a:r>
                        <a:rPr sz="1050" b="0">
                          <a:solidFill>
                            <a:srgbClr val="000000"/>
                          </a:solidFill>
                          <a:latin typeface="Arial"/>
                        </a:rPr>
                        <a:t>Digitize The Stefano Shop's operations and sales by integrating the store into Yosemite's eCommerce platform. The project will deliver an online storefront, social media integration, recommendation engine, reporting, documentation, and training within the 12-week limit.</a:t>
                      </a:r>
                      <a:endParaRPr i="1" sz="1800">
                        <a:solidFill>
                          <a:srgbClr val="525C65"/>
                        </a:solidFill>
                        <a:latin typeface="Open Sans Light"/>
                        <a:ea typeface="Open Sans Light"/>
                        <a:cs typeface="Open Sans Light"/>
                        <a:sym typeface="Open Sans Light"/>
                      </a:endParaRPr>
                    </a:p>
                  </a:txBody>
                  <a:tcPr marT="38100" marB="38100" marR="50800" marL="50800"/>
                </a:tc>
              </a:tr>
              <a:tr h="100000">
                <a:tc>
                  <a:txBody>
                    <a:bodyPr wrap="square">
                      <a:normAutofit/>
                    </a:bodyPr>
                    <a:lstStyle/>
                    <a:p>
                      <a:pPr indent="0" lvl="0" marL="0" rtl="0" algn="l">
                        <a:lnSpc>
                          <a:spcPct val="115000"/>
                        </a:lnSpc>
                        <a:spcBef>
                          <a:spcPts val="0"/>
                        </a:spcBef>
                        <a:spcAft>
                          <a:spcPts val="0"/>
                        </a:spcAft>
                        <a:buClr>
                          <a:schemeClr val="dk1"/>
                        </a:buClr>
                        <a:buSzPts val="1100"/>
                        <a:buFont typeface="Arial"/>
                        <a:buNone/>
                      </a:pPr>
                      <a:r>
                        <a:rPr sz="1200" b="1">
                          <a:solidFill>
                            <a:srgbClr val="000000"/>
                          </a:solidFill>
                          <a:latin typeface="Arial"/>
                        </a:rPr>
                        <a:t>List at least 3 project milestones</a:t>
                      </a:r>
                      <a:endParaRPr sz="1800">
                        <a:solidFill>
                          <a:srgbClr val="525C65"/>
                        </a:solidFill>
                        <a:latin typeface="Open Sans"/>
                        <a:ea typeface="Open Sans"/>
                        <a:cs typeface="Open Sans"/>
                        <a:sym typeface="Open Sans"/>
                      </a:endParaRPr>
                    </a:p>
                  </a:txBody>
                  <a:tcPr marT="38100" marB="38100" marR="50800" marL="50800">
                    <a:solidFill>
                      <a:srgbClr val="E0F2FE"/>
                    </a:solidFill>
                  </a:tcPr>
                </a:tc>
              </a:tr>
              <a:tr h="1654300">
                <a:tc>
                  <a:txBody>
                    <a:bodyPr wrap="square">
                      <a:normAutofit/>
                    </a:bodyPr>
                    <a:lstStyle/>
                    <a:p>
                      <a:pPr indent="0" lvl="0" marL="0" rtl="0" algn="l">
                        <a:spcBef>
                          <a:spcPts val="0"/>
                        </a:spcBef>
                        <a:spcAft>
                          <a:spcPts val="0"/>
                        </a:spcAft>
                        <a:buNone/>
                      </a:pPr>
                      <a:r>
                        <a:rPr sz="1050" b="0">
                          <a:solidFill>
                            <a:srgbClr val="000000"/>
                          </a:solidFill>
                          <a:latin typeface="Arial"/>
                        </a:rPr>
                        <a:t>• Kickoff and scope approval</a:t>
                      </a:r>
                      <a:endParaRPr sz="1800">
                        <a:solidFill>
                          <a:srgbClr val="525C65"/>
                        </a:solidFill>
                        <a:latin typeface="Open Sans"/>
                        <a:ea typeface="Open Sans"/>
                        <a:cs typeface="Open Sans"/>
                        <a:sym typeface="Open Sans"/>
                      </a:endParaRPr>
                    </a:p>
                    <a:p>
                      <a:r>
                        <a:rPr sz="1050" b="0">
                          <a:solidFill>
                            <a:srgbClr val="000000"/>
                          </a:solidFill>
                          <a:latin typeface="Arial"/>
                        </a:rPr>
                        <a:t>• Storefront built and released</a:t>
                      </a:r>
                    </a:p>
                    <a:p>
                      <a:r>
                        <a:rPr sz="1050" b="0">
                          <a:solidFill>
                            <a:srgbClr val="000000"/>
                          </a:solidFill>
                          <a:latin typeface="Arial"/>
                        </a:rPr>
                        <a:t>• Inventory data loaded</a:t>
                      </a:r>
                    </a:p>
                    <a:p>
                      <a:r>
                        <a:rPr sz="1050" b="0">
                          <a:solidFill>
                            <a:srgbClr val="000000"/>
                          </a:solidFill>
                          <a:latin typeface="Arial"/>
                        </a:rPr>
                        <a:t>• Social channels created and integrated</a:t>
                      </a:r>
                    </a:p>
                    <a:p>
                      <a:r>
                        <a:rPr sz="1050" b="0">
                          <a:solidFill>
                            <a:srgbClr val="000000"/>
                          </a:solidFill>
                          <a:latin typeface="Arial"/>
                        </a:rPr>
                        <a:t>• Recommendation engine released</a:t>
                      </a:r>
                    </a:p>
                    <a:p>
                      <a:r>
                        <a:rPr sz="1050" b="0">
                          <a:solidFill>
                            <a:srgbClr val="000000"/>
                          </a:solidFill>
                          <a:latin typeface="Arial"/>
                        </a:rPr>
                        <a:t>• Custom sales report delivered</a:t>
                      </a:r>
                    </a:p>
                    <a:p>
                      <a:r>
                        <a:rPr sz="1050" b="0">
                          <a:solidFill>
                            <a:srgbClr val="000000"/>
                          </a:solidFill>
                          <a:latin typeface="Arial"/>
                        </a:rPr>
                        <a:t>• Stefano training, go-live, and closure completed</a:t>
                      </a:r>
                    </a:p>
                  </a:txBody>
                  <a:tcPr marT="38100" marB="38100" marR="50800" marL="50800"/>
                </a:tc>
              </a:tr>
              <a:tr h="270625">
                <a:tc>
                  <a:txBody>
                    <a:bodyPr wrap="square">
                      <a:normAutofit/>
                    </a:bodyPr>
                    <a:lstStyle/>
                    <a:p>
                      <a:pPr indent="0" lvl="0" marL="0" rtl="0" algn="l">
                        <a:lnSpc>
                          <a:spcPct val="115000"/>
                        </a:lnSpc>
                        <a:spcBef>
                          <a:spcPts val="0"/>
                        </a:spcBef>
                        <a:spcAft>
                          <a:spcPts val="0"/>
                        </a:spcAft>
                        <a:buClr>
                          <a:schemeClr val="dk1"/>
                        </a:buClr>
                        <a:buSzPts val="1100"/>
                        <a:buFont typeface="Arial"/>
                        <a:buNone/>
                      </a:pPr>
                      <a:r>
                        <a:rPr sz="1200" b="1">
                          <a:solidFill>
                            <a:srgbClr val="000000"/>
                          </a:solidFill>
                          <a:latin typeface="Arial"/>
                        </a:rPr>
                        <a:t>List the resources you have access to as the project manager, including the budget</a:t>
                      </a:r>
                      <a:endParaRPr sz="1800">
                        <a:solidFill>
                          <a:srgbClr val="525C65"/>
                        </a:solidFill>
                        <a:latin typeface="Open Sans"/>
                        <a:ea typeface="Open Sans"/>
                        <a:cs typeface="Open Sans"/>
                        <a:sym typeface="Open Sans"/>
                      </a:endParaRPr>
                    </a:p>
                  </a:txBody>
                  <a:tcPr marT="38100" marB="38100" marR="50800" marL="50800">
                    <a:solidFill>
                      <a:srgbClr val="E0F2FE"/>
                    </a:solidFill>
                  </a:tcPr>
                </a:tc>
              </a:tr>
              <a:tr h="1641125">
                <a:tc>
                  <a:txBody>
                    <a:bodyPr wrap="square">
                      <a:normAutofit/>
                    </a:bodyPr>
                    <a:lstStyle/>
                    <a:p>
                      <a:pPr indent="0" lvl="0" marL="0" rtl="0" algn="l">
                        <a:spcBef>
                          <a:spcPts val="0"/>
                        </a:spcBef>
                        <a:spcAft>
                          <a:spcPts val="0"/>
                        </a:spcAft>
                        <a:buNone/>
                      </a:pPr>
                      <a:r>
                        <a:rPr sz="1050" b="0">
                          <a:solidFill>
                            <a:srgbClr val="000000"/>
                          </a:solidFill>
                          <a:latin typeface="Arial"/>
                        </a:rPr>
                        <a:t>• Budget: $15,000</a:t>
                      </a:r>
                      <a:endParaRPr sz="1800">
                        <a:solidFill>
                          <a:srgbClr val="525C65"/>
                        </a:solidFill>
                        <a:latin typeface="Open Sans"/>
                        <a:ea typeface="Open Sans"/>
                        <a:cs typeface="Open Sans"/>
                        <a:sym typeface="Open Sans"/>
                      </a:endParaRPr>
                    </a:p>
                    <a:p>
                      <a:r>
                        <a:rPr sz="1050" b="0">
                          <a:solidFill>
                            <a:srgbClr val="000000"/>
                          </a:solidFill>
                          <a:latin typeface="Arial"/>
                        </a:rPr>
                        <a:t>• Yosemite Project Manager: Hashim Naveed</a:t>
                      </a:r>
                    </a:p>
                    <a:p>
                      <a:r>
                        <a:rPr sz="1050" b="0">
                          <a:solidFill>
                            <a:srgbClr val="000000"/>
                          </a:solidFill>
                          <a:latin typeface="Arial"/>
                        </a:rPr>
                        <a:t>• Aliyah and Engineering team</a:t>
                      </a:r>
                    </a:p>
                    <a:p>
                      <a:r>
                        <a:rPr sz="1050" b="0">
                          <a:solidFill>
                            <a:srgbClr val="000000"/>
                          </a:solidFill>
                          <a:latin typeface="Arial"/>
                        </a:rPr>
                        <a:t>• Moe and Vendor Management team</a:t>
                      </a:r>
                    </a:p>
                    <a:p>
                      <a:r>
                        <a:rPr sz="1050" b="0">
                          <a:solidFill>
                            <a:srgbClr val="000000"/>
                          </a:solidFill>
                          <a:latin typeface="Arial"/>
                        </a:rPr>
                        <a:t>• Taylor and Marketing team</a:t>
                      </a:r>
                    </a:p>
                    <a:p>
                      <a:r>
                        <a:rPr sz="1050" b="0">
                          <a:solidFill>
                            <a:srgbClr val="000000"/>
                          </a:solidFill>
                          <a:latin typeface="Arial"/>
                        </a:rPr>
                        <a:t>• Lou, Small Business Program Manager</a:t>
                      </a:r>
                    </a:p>
                    <a:p>
                      <a:r>
                        <a:rPr sz="1050" b="0">
                          <a:solidFill>
                            <a:srgbClr val="000000"/>
                          </a:solidFill>
                          <a:latin typeface="Arial"/>
                        </a:rPr>
                        <a:t>• Stefano family inventory data, business input, and user feedback</a:t>
                      </a:r>
                    </a:p>
                    <a:p>
                      <a:r>
                        <a:rPr sz="1050" b="0">
                          <a:solidFill>
                            <a:srgbClr val="000000"/>
                          </a:solidFill>
                          <a:latin typeface="Arial"/>
                        </a:rPr>
                        <a:t>• Yosemite platform, documentation templates, and reporting tools</a:t>
                      </a:r>
                    </a:p>
                  </a:txBody>
                  <a:tcPr marT="38100" marB="38100" marR="50800" marL="5080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Cost-Benefit Analysis</a:t>
            </a:r>
            <a:endParaRPr/>
          </a:p>
        </p:txBody>
      </p:sp>
      <p:graphicFrame>
        <p:nvGraphicFramePr>
          <p:cNvPr id="91" name="Google Shape;91;p16"/>
          <p:cNvGraphicFramePr/>
          <p:nvPr/>
        </p:nvGraphicFramePr>
        <p:xfrm>
          <a:off x="264900" y="2253750"/>
          <a:ext cx="3000000" cy="3000000"/>
        </p:xfrm>
        <a:graphic>
          <a:graphicData uri="http://schemas.openxmlformats.org/drawingml/2006/table">
            <a:tbl>
              <a:tblPr>
                <a:noFill/>
                <a:tableStyleId>{C82BA829-6A89-494B-93C7-34DF5BC7DE1F}</a:tableStyleId>
              </a:tblPr>
              <a:tblGrid>
                <a:gridCol w="7242600"/>
              </a:tblGrid>
              <a:tr h="100000">
                <a:tc>
                  <a:txBody>
                    <a:bodyPr wrap="square">
                      <a:normAutofit/>
                    </a:bodyPr>
                    <a:lstStyle/>
                    <a:p>
                      <a:pPr indent="0" lvl="0" marL="0" rtl="0" algn="l">
                        <a:lnSpc>
                          <a:spcPct val="115000"/>
                        </a:lnSpc>
                        <a:spcBef>
                          <a:spcPts val="0"/>
                        </a:spcBef>
                        <a:spcAft>
                          <a:spcPts val="0"/>
                        </a:spcAft>
                        <a:buNone/>
                      </a:pPr>
                      <a:r>
                        <a:rPr sz="1200" b="1">
                          <a:solidFill>
                            <a:srgbClr val="000000"/>
                          </a:solidFill>
                          <a:latin typeface="Arial"/>
                        </a:rPr>
                        <a:t>Write out the formula for the cost-benefit analysis</a:t>
                      </a:r>
                      <a:endParaRPr sz="1800">
                        <a:solidFill>
                          <a:srgbClr val="525C65"/>
                        </a:solidFill>
                        <a:latin typeface="Open Sans"/>
                        <a:ea typeface="Open Sans"/>
                        <a:cs typeface="Open Sans"/>
                        <a:sym typeface="Open Sans"/>
                      </a:endParaRPr>
                    </a:p>
                  </a:txBody>
                  <a:tcPr marT="38100" marB="38100" marR="50800" marL="50800">
                    <a:solidFill>
                      <a:srgbClr val="E0F2FE"/>
                    </a:solidFill>
                  </a:tcPr>
                </a:tc>
              </a:tr>
              <a:tr h="1654900">
                <a:tc>
                  <a:txBody>
                    <a:bodyPr wrap="square">
                      <a:normAutofit/>
                    </a:bodyPr>
                    <a:lstStyle/>
                    <a:p>
                      <a:pPr indent="0" lvl="0" marL="0" rtl="0" algn="l">
                        <a:spcBef>
                          <a:spcPts val="0"/>
                        </a:spcBef>
                        <a:spcAft>
                          <a:spcPts val="0"/>
                        </a:spcAft>
                        <a:buNone/>
                      </a:pPr>
                      <a:r>
                        <a:rPr sz="1200" b="0">
                          <a:solidFill>
                            <a:srgbClr val="000000"/>
                          </a:solidFill>
                          <a:latin typeface="Arial"/>
                        </a:rPr>
                        <a:t>Cost-Benefit Ratio = Present Value of Benefits / Project Cost</a:t>
                      </a:r>
                      <a:endParaRPr i="1" sz="1800">
                        <a:solidFill>
                          <a:srgbClr val="525C65"/>
                        </a:solidFill>
                        <a:latin typeface="Open Sans Light"/>
                        <a:ea typeface="Open Sans Light"/>
                        <a:cs typeface="Open Sans Light"/>
                        <a:sym typeface="Open Sans Light"/>
                      </a:endParaRPr>
                    </a:p>
                  </a:txBody>
                  <a:tcPr marT="38100" marB="38100" marR="50800" marL="50800"/>
                </a:tc>
              </a:tr>
              <a:tr h="100000">
                <a:tc>
                  <a:txBody>
                    <a:bodyPr wrap="square">
                      <a:normAutofit/>
                    </a:bodyPr>
                    <a:lstStyle/>
                    <a:p>
                      <a:pPr indent="0" lvl="0" marL="0" rtl="0" algn="l">
                        <a:lnSpc>
                          <a:spcPct val="115000"/>
                        </a:lnSpc>
                        <a:spcBef>
                          <a:spcPts val="0"/>
                        </a:spcBef>
                        <a:spcAft>
                          <a:spcPts val="0"/>
                        </a:spcAft>
                        <a:buNone/>
                      </a:pPr>
                      <a:r>
                        <a:rPr sz="1200" b="1">
                          <a:solidFill>
                            <a:srgbClr val="000000"/>
                          </a:solidFill>
                          <a:latin typeface="Arial"/>
                        </a:rPr>
                        <a:t>Show the steps to get the cost-benefit ratio</a:t>
                      </a:r>
                      <a:endParaRPr sz="1800">
                        <a:solidFill>
                          <a:srgbClr val="525C65"/>
                        </a:solidFill>
                        <a:latin typeface="Open Sans"/>
                        <a:ea typeface="Open Sans"/>
                        <a:cs typeface="Open Sans"/>
                        <a:sym typeface="Open Sans"/>
                      </a:endParaRPr>
                    </a:p>
                  </a:txBody>
                  <a:tcPr marT="38100" marB="38100" marR="50800" marL="50800">
                    <a:solidFill>
                      <a:srgbClr val="E0F2FE"/>
                    </a:solidFill>
                  </a:tcPr>
                </a:tc>
              </a:tr>
              <a:tr h="1654300">
                <a:tc>
                  <a:txBody>
                    <a:bodyPr wrap="square">
                      <a:normAutofit/>
                    </a:bodyPr>
                    <a:lstStyle/>
                    <a:p>
                      <a:pPr indent="0" lvl="0" marL="0" rtl="0" algn="l">
                        <a:spcBef>
                          <a:spcPts val="0"/>
                        </a:spcBef>
                        <a:spcAft>
                          <a:spcPts val="0"/>
                        </a:spcAft>
                        <a:buNone/>
                      </a:pPr>
                      <a:r>
                        <a:rPr sz="1200" b="0">
                          <a:solidFill>
                            <a:srgbClr val="000000"/>
                          </a:solidFill>
                          <a:latin typeface="Arial"/>
                        </a:rPr>
                        <a:t>Present Value of benefit = $36,000 / (1 + 20%) = $30,000</a:t>
                      </a:r>
                      <a:endParaRPr sz="1800">
                        <a:solidFill>
                          <a:srgbClr val="525C65"/>
                        </a:solidFill>
                        <a:latin typeface="Open Sans"/>
                        <a:ea typeface="Open Sans"/>
                        <a:cs typeface="Open Sans"/>
                        <a:sym typeface="Open Sans"/>
                      </a:endParaRPr>
                    </a:p>
                    <a:p>
                      <a:r>
                        <a:rPr sz="1200" b="0">
                          <a:solidFill>
                            <a:srgbClr val="000000"/>
                          </a:solidFill>
                          <a:latin typeface="Arial"/>
                        </a:rPr>
                        <a:t>Cost-Benefit Ratio = $30,000 / $15,000 = 2.00</a:t>
                      </a:r>
                    </a:p>
                  </a:txBody>
                  <a:tcPr marT="38100" marB="38100" marR="50800" marL="50800"/>
                </a:tc>
              </a:tr>
              <a:tr h="270625">
                <a:tc>
                  <a:txBody>
                    <a:bodyPr wrap="square">
                      <a:normAutofit/>
                    </a:bodyPr>
                    <a:lstStyle/>
                    <a:p>
                      <a:pPr indent="0" lvl="0" marL="0" rtl="0" algn="l">
                        <a:lnSpc>
                          <a:spcPct val="115000"/>
                        </a:lnSpc>
                        <a:spcBef>
                          <a:spcPts val="0"/>
                        </a:spcBef>
                        <a:spcAft>
                          <a:spcPts val="0"/>
                        </a:spcAft>
                        <a:buNone/>
                      </a:pPr>
                      <a:r>
                        <a:rPr sz="1200" b="1">
                          <a:solidFill>
                            <a:srgbClr val="000000"/>
                          </a:solidFill>
                          <a:latin typeface="Arial"/>
                        </a:rPr>
                        <a:t>State whether the investment is positive or negative</a:t>
                      </a:r>
                      <a:endParaRPr sz="1800">
                        <a:solidFill>
                          <a:srgbClr val="525C65"/>
                        </a:solidFill>
                        <a:latin typeface="Open Sans"/>
                        <a:ea typeface="Open Sans"/>
                        <a:cs typeface="Open Sans"/>
                        <a:sym typeface="Open Sans"/>
                      </a:endParaRPr>
                    </a:p>
                  </a:txBody>
                  <a:tcPr marT="38100" marB="38100" marR="50800" marL="50800">
                    <a:solidFill>
                      <a:srgbClr val="E0F2FE"/>
                    </a:solidFill>
                  </a:tcPr>
                </a:tc>
              </a:tr>
              <a:tr h="1641125">
                <a:tc>
                  <a:txBody>
                    <a:bodyPr wrap="square">
                      <a:normAutofit/>
                    </a:bodyPr>
                    <a:lstStyle/>
                    <a:p>
                      <a:pPr indent="0" lvl="0" marL="0" rtl="0" algn="l">
                        <a:spcBef>
                          <a:spcPts val="0"/>
                        </a:spcBef>
                        <a:spcAft>
                          <a:spcPts val="0"/>
                        </a:spcAft>
                        <a:buNone/>
                      </a:pPr>
                      <a:r>
                        <a:rPr sz="1200" b="0">
                          <a:solidFill>
                            <a:srgbClr val="000000"/>
                          </a:solidFill>
                          <a:latin typeface="Arial"/>
                        </a:rPr>
                        <a:t>The investment is positive. A ratio of 2.00 means the discounted expected benefit is twice the project cost, so the project provides a strong business case for the Stefanos.</a:t>
                      </a:r>
                      <a:endParaRPr sz="1800">
                        <a:solidFill>
                          <a:srgbClr val="525C65"/>
                        </a:solidFill>
                        <a:latin typeface="Open Sans"/>
                        <a:ea typeface="Open Sans"/>
                        <a:cs typeface="Open Sans"/>
                        <a:sym typeface="Open Sans"/>
                      </a:endParaRPr>
                    </a:p>
                  </a:txBody>
                  <a:tcPr marT="38100" marB="38100" marR="50800" marL="5080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Timing and Methodology</a:t>
            </a:r>
            <a:endParaRPr/>
          </a:p>
        </p:txBody>
      </p:sp>
      <p:graphicFrame>
        <p:nvGraphicFramePr>
          <p:cNvPr id="97" name="Google Shape;97;p17"/>
          <p:cNvGraphicFramePr/>
          <p:nvPr/>
        </p:nvGraphicFramePr>
        <p:xfrm>
          <a:off x="264900" y="2253750"/>
          <a:ext cx="3000000" cy="3000000"/>
        </p:xfrm>
        <a:graphic>
          <a:graphicData uri="http://schemas.openxmlformats.org/drawingml/2006/table">
            <a:tbl>
              <a:tblPr>
                <a:noFill/>
                <a:tableStyleId>{C82BA829-6A89-494B-93C7-34DF5BC7DE1F}</a:tableStyleId>
              </a:tblPr>
              <a:tblGrid>
                <a:gridCol w="7242600"/>
              </a:tblGrid>
              <a:tr h="741475">
                <a:tc>
                  <a:txBody>
                    <a:bodyPr wrap="square">
                      <a:normAutofit/>
                    </a:bodyPr>
                    <a:lstStyle/>
                    <a:p>
                      <a:pPr indent="0" lvl="0" marL="0" rtl="0" algn="l">
                        <a:spcBef>
                          <a:spcPts val="0"/>
                        </a:spcBef>
                        <a:spcAft>
                          <a:spcPts val="0"/>
                        </a:spcAft>
                        <a:buNone/>
                      </a:pPr>
                      <a:r>
                        <a:rPr sz="1200" b="1">
                          <a:solidFill>
                            <a:srgbClr val="000000"/>
                          </a:solidFill>
                          <a:latin typeface="Arial"/>
                        </a:rPr>
                        <a:t>What are the minimum and the maximum number of weeks required to complete the project?</a:t>
                      </a:r>
                      <a:endParaRPr sz="1800">
                        <a:solidFill>
                          <a:srgbClr val="525C65"/>
                        </a:solidFill>
                        <a:latin typeface="Open Sans"/>
                        <a:ea typeface="Open Sans"/>
                        <a:cs typeface="Open Sans"/>
                        <a:sym typeface="Open Sans"/>
                      </a:endParaRPr>
                    </a:p>
                  </a:txBody>
                  <a:tcPr marT="38100" marB="38100" marR="50800" marL="50800">
                    <a:solidFill>
                      <a:srgbClr val="E0F2FE"/>
                    </a:solidFill>
                  </a:tcPr>
                </a:tc>
              </a:tr>
              <a:tr h="1654900">
                <a:tc>
                  <a:txBody>
                    <a:bodyPr wrap="square">
                      <a:normAutofit/>
                    </a:bodyPr>
                    <a:lstStyle/>
                    <a:p>
                      <a:pPr indent="0" lvl="0" marL="0" rtl="0" algn="l">
                        <a:spcBef>
                          <a:spcPts val="0"/>
                        </a:spcBef>
                        <a:spcAft>
                          <a:spcPts val="0"/>
                        </a:spcAft>
                        <a:buNone/>
                      </a:pPr>
                      <a:r>
                        <a:rPr sz="1050" b="0">
                          <a:solidFill>
                            <a:srgbClr val="000000"/>
                          </a:solidFill>
                          <a:latin typeface="Arial"/>
                        </a:rPr>
                        <a:t>Minimum schedule: 8 weeks. Maximum schedule: 12 weeks. The planned Waterfall schedule uses 9 weeks, from June 8 to August 7, 2026.</a:t>
                      </a:r>
                      <a:endParaRPr sz="1800">
                        <a:solidFill>
                          <a:srgbClr val="525C65"/>
                        </a:solidFill>
                        <a:latin typeface="Open Sans"/>
                        <a:ea typeface="Open Sans"/>
                        <a:cs typeface="Open Sans"/>
                        <a:sym typeface="Open Sans"/>
                      </a:endParaRPr>
                    </a:p>
                  </a:txBody>
                  <a:tcPr marT="38100" marB="38100" marR="50800" marL="50800"/>
                </a:tc>
              </a:tr>
              <a:tr h="751500">
                <a:tc>
                  <a:txBody>
                    <a:bodyPr wrap="square">
                      <a:normAutofit/>
                    </a:bodyPr>
                    <a:lstStyle/>
                    <a:p>
                      <a:pPr indent="0" lvl="0" marL="0" rtl="0" algn="l">
                        <a:spcBef>
                          <a:spcPts val="0"/>
                        </a:spcBef>
                        <a:spcAft>
                          <a:spcPts val="0"/>
                        </a:spcAft>
                        <a:buNone/>
                      </a:pPr>
                      <a:r>
                        <a:rPr sz="1200" b="1">
                          <a:solidFill>
                            <a:srgbClr val="000000"/>
                          </a:solidFill>
                          <a:latin typeface="Arial"/>
                        </a:rPr>
                        <a:t>What methodology do you propose to use for organizing the project: Waterfall or Agile? Explain your answer in 2-3 sentences.</a:t>
                      </a:r>
                      <a:endParaRPr sz="1800">
                        <a:solidFill>
                          <a:srgbClr val="525C65"/>
                        </a:solidFill>
                        <a:latin typeface="Open Sans"/>
                        <a:ea typeface="Open Sans"/>
                        <a:cs typeface="Open Sans"/>
                        <a:sym typeface="Open Sans"/>
                      </a:endParaRPr>
                    </a:p>
                  </a:txBody>
                  <a:tcPr marT="38100" marB="38100" marR="50800" marL="50800">
                    <a:solidFill>
                      <a:srgbClr val="E0F2FE"/>
                    </a:solidFill>
                  </a:tcPr>
                </a:tc>
              </a:tr>
              <a:tr h="1654300">
                <a:tc>
                  <a:txBody>
                    <a:bodyPr wrap="square">
                      <a:normAutofit/>
                    </a:bodyPr>
                    <a:lstStyle/>
                    <a:p>
                      <a:pPr indent="0" lvl="0" marL="0" rtl="0" algn="l">
                        <a:spcBef>
                          <a:spcPts val="0"/>
                        </a:spcBef>
                        <a:spcAft>
                          <a:spcPts val="0"/>
                        </a:spcAft>
                        <a:buNone/>
                      </a:pPr>
                      <a:r>
                        <a:rPr sz="1050" b="0">
                          <a:solidFill>
                            <a:srgbClr val="000000"/>
                          </a:solidFill>
                          <a:latin typeface="Arial"/>
                        </a:rPr>
                        <a:t>I propose Waterfall. The scope, budget, major deliverables, and dependencies are defined up front, and the Stefano family needs predictable milestones because they are budget-sensitive and preparing for seasonal shoppers. Waterfall also gives Papa and Mama Stefano clear review points before go-live.</a:t>
                      </a:r>
                      <a:endParaRPr sz="1800">
                        <a:solidFill>
                          <a:srgbClr val="525C65"/>
                        </a:solidFill>
                        <a:latin typeface="Open Sans"/>
                        <a:ea typeface="Open Sans"/>
                        <a:cs typeface="Open Sans"/>
                        <a:sym typeface="Open Sans"/>
                      </a:endParaRPr>
                    </a:p>
                  </a:txBody>
                  <a:tcPr marT="38100" marB="38100" marR="50800" marL="50800"/>
                </a:tc>
              </a:tr>
              <a:tr h="270625">
                <a:tc>
                  <a:txBody>
                    <a:bodyPr wrap="square">
                      <a:normAutofit/>
                    </a:bodyPr>
                    <a:lstStyle/>
                    <a:p>
                      <a:pPr indent="0" lvl="0" marL="0" rtl="0" algn="l">
                        <a:lnSpc>
                          <a:spcPct val="115000"/>
                        </a:lnSpc>
                        <a:spcBef>
                          <a:spcPts val="0"/>
                        </a:spcBef>
                        <a:spcAft>
                          <a:spcPts val="0"/>
                        </a:spcAft>
                        <a:buNone/>
                      </a:pPr>
                      <a:r>
                        <a:rPr sz="1200" b="1">
                          <a:solidFill>
                            <a:srgbClr val="000000"/>
                          </a:solidFill>
                          <a:latin typeface="Arial"/>
                        </a:rPr>
                        <a:t>Based on your chosen methodology, list the meetings you need to schedule.</a:t>
                      </a:r>
                      <a:endParaRPr sz="1800">
                        <a:solidFill>
                          <a:srgbClr val="525C65"/>
                        </a:solidFill>
                        <a:latin typeface="Open Sans"/>
                        <a:ea typeface="Open Sans"/>
                        <a:cs typeface="Open Sans"/>
                        <a:sym typeface="Open Sans"/>
                      </a:endParaRPr>
                    </a:p>
                  </a:txBody>
                  <a:tcPr marT="38100" marB="38100" marR="50800" marL="50800">
                    <a:solidFill>
                      <a:srgbClr val="E0F2FE"/>
                    </a:solidFill>
                  </a:tcPr>
                </a:tc>
              </a:tr>
              <a:tr h="1641125">
                <a:tc>
                  <a:txBody>
                    <a:bodyPr wrap="square">
                      <a:normAutofit/>
                    </a:bodyPr>
                    <a:lstStyle/>
                    <a:p>
                      <a:pPr indent="0" lvl="0" marL="0" rtl="0" algn="l">
                        <a:spcBef>
                          <a:spcPts val="0"/>
                        </a:spcBef>
                        <a:spcAft>
                          <a:spcPts val="0"/>
                        </a:spcAft>
                        <a:buNone/>
                      </a:pPr>
                      <a:r>
                        <a:rPr sz="1050" b="0">
                          <a:solidFill>
                            <a:srgbClr val="000000"/>
                          </a:solidFill>
                          <a:latin typeface="Arial"/>
                        </a:rPr>
                        <a:t>• Kickoff meeting</a:t>
                      </a:r>
                      <a:endParaRPr sz="1800">
                        <a:solidFill>
                          <a:srgbClr val="525C65"/>
                        </a:solidFill>
                        <a:latin typeface="Open Sans"/>
                        <a:ea typeface="Open Sans"/>
                        <a:cs typeface="Open Sans"/>
                        <a:sym typeface="Open Sans"/>
                      </a:endParaRPr>
                    </a:p>
                    <a:p>
                      <a:r>
                        <a:rPr sz="1050" b="0">
                          <a:solidFill>
                            <a:srgbClr val="000000"/>
                          </a:solidFill>
                          <a:latin typeface="Arial"/>
                        </a:rPr>
                        <a:t>• Weekly internal Yosemite team check-ins</a:t>
                      </a:r>
                    </a:p>
                    <a:p>
                      <a:r>
                        <a:rPr sz="1050" b="0">
                          <a:solidFill>
                            <a:srgbClr val="000000"/>
                          </a:solidFill>
                          <a:latin typeface="Arial"/>
                        </a:rPr>
                        <a:t>• Weekly customer stakeholder status meetings</a:t>
                      </a:r>
                    </a:p>
                    <a:p>
                      <a:r>
                        <a:rPr sz="1050" b="0">
                          <a:solidFill>
                            <a:srgbClr val="000000"/>
                          </a:solidFill>
                          <a:latin typeface="Arial"/>
                        </a:rPr>
                        <a:t>• Milestone review meetings after storefront, social integration, recommendation engine, and training</a:t>
                      </a:r>
                    </a:p>
                    <a:p>
                      <a:r>
                        <a:rPr sz="1050" b="0">
                          <a:solidFill>
                            <a:srgbClr val="000000"/>
                          </a:solidFill>
                          <a:latin typeface="Arial"/>
                        </a:rPr>
                        <a:t>• Risk/escalation meetings as needed</a:t>
                      </a:r>
                    </a:p>
                    <a:p>
                      <a:r>
                        <a:rPr sz="1050" b="0">
                          <a:solidFill>
                            <a:srgbClr val="000000"/>
                          </a:solidFill>
                          <a:latin typeface="Arial"/>
                        </a:rPr>
                        <a:t>• Go-live readiness meeting</a:t>
                      </a:r>
                    </a:p>
                    <a:p>
                      <a:r>
                        <a:rPr sz="1050" b="0">
                          <a:solidFill>
                            <a:srgbClr val="000000"/>
                          </a:solidFill>
                          <a:latin typeface="Arial"/>
                        </a:rPr>
                        <a:t>• Closure and lessons learned meeting</a:t>
                      </a:r>
                    </a:p>
                  </a:txBody>
                  <a:tcPr marT="38100" marB="38100" marR="50800" marL="5080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264900" y="2160200"/>
            <a:ext cx="7242600" cy="255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Step Two:</a:t>
            </a:r>
            <a:endParaRPr/>
          </a:p>
          <a:p>
            <a:pPr indent="0" lvl="0" marL="0" rtl="0" algn="l">
              <a:spcBef>
                <a:spcPts val="2000"/>
              </a:spcBef>
              <a:spcAft>
                <a:spcPts val="600"/>
              </a:spcAft>
              <a:buClr>
                <a:schemeClr val="dk1"/>
              </a:buClr>
              <a:buSzPts val="1100"/>
              <a:buFont typeface="Arial"/>
              <a:buNone/>
            </a:pPr>
            <a:r>
              <a:rPr lang="en"/>
              <a:t>Identify Your Stakeholders and Team</a:t>
            </a:r>
            <a:endParaRPr/>
          </a:p>
        </p:txBody>
      </p:sp>
      <p:sp>
        <p:nvSpPr>
          <p:cNvPr id="103" name="Google Shape;103;p18"/>
          <p:cNvSpPr txBox="1"/>
          <p:nvPr>
            <p:ph idx="4294967295"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Digital Project Management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Power-Influence </a:t>
            </a:r>
            <a:r>
              <a:rPr lang="en"/>
              <a:t>Classifications</a:t>
            </a:r>
            <a:endParaRPr/>
          </a:p>
        </p:txBody>
      </p:sp>
      <p:sp>
        <p:nvSpPr>
          <p:cNvPr id="109" name="Google Shape;109;p19"/>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need to classify each member of the Stefano family and Yosemite team by their power level and influence on the project. You are already provided with assumptions/risks for each person.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Take a look at the Cast of Characters in the classroom or the 6th and 7th slide to learn more about each person.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As you learned in the </a:t>
            </a:r>
            <a:r>
              <a:rPr i="1" lang="en"/>
              <a:t>Setting up Your Project/Stakeholder's Power lesson</a:t>
            </a:r>
            <a:r>
              <a:rPr lang="en"/>
              <a:t>, this chart has </a:t>
            </a:r>
            <a:r>
              <a:rPr b="1" lang="en">
                <a:latin typeface="Open Sans"/>
                <a:ea typeface="Open Sans"/>
                <a:cs typeface="Open Sans"/>
                <a:sym typeface="Open Sans"/>
              </a:rPr>
              <a:t>only a "High" or "Low" classification</a:t>
            </a:r>
            <a:r>
              <a:rPr lang="en"/>
              <a:t>. Below is a reminder of what each term means.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b="1" lang="en">
                <a:latin typeface="Open Sans"/>
                <a:ea typeface="Open Sans"/>
                <a:cs typeface="Open Sans"/>
                <a:sym typeface="Open Sans"/>
              </a:rPr>
              <a:t>Power Level:</a:t>
            </a:r>
            <a:r>
              <a:rPr lang="en"/>
              <a:t> The level of authority and decision-making power that a person has over a project. You could ask: </a:t>
            </a:r>
            <a:r>
              <a:rPr b="1" lang="en">
                <a:latin typeface="Open Sans"/>
                <a:ea typeface="Open Sans"/>
                <a:cs typeface="Open Sans"/>
                <a:sym typeface="Open Sans"/>
              </a:rPr>
              <a:t>Can this person make decisions about the project?</a:t>
            </a:r>
            <a:endParaRPr b="1">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b="1" lang="en">
                <a:latin typeface="Open Sans"/>
                <a:ea typeface="Open Sans"/>
                <a:cs typeface="Open Sans"/>
                <a:sym typeface="Open Sans"/>
              </a:rPr>
              <a:t>Influence:</a:t>
            </a:r>
            <a:r>
              <a:rPr lang="en"/>
              <a:t> A person's ability to influence decision-makers through their personality style, interpersonal skills, and relationship with those in authority. You could ask: </a:t>
            </a:r>
            <a:r>
              <a:rPr b="1" lang="en">
                <a:latin typeface="Open Sans"/>
                <a:ea typeface="Open Sans"/>
                <a:cs typeface="Open Sans"/>
                <a:sym typeface="Open Sans"/>
              </a:rPr>
              <a:t>Can this person influence a decision-maker?</a:t>
            </a:r>
            <a:endParaRPr b="1">
              <a:latin typeface="Open Sans"/>
              <a:ea typeface="Open Sans"/>
              <a:cs typeface="Open Sans"/>
              <a:sym typeface="Open Sans"/>
            </a:endParaRPr>
          </a:p>
          <a:p>
            <a:pPr indent="0" lvl="0" marL="0" rtl="0" algn="l">
              <a:spcBef>
                <a:spcPts val="0"/>
              </a:spcBef>
              <a:spcAft>
                <a:spcPts val="1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Power-Influence Classification Grid</a:t>
            </a:r>
            <a:endParaRPr/>
          </a:p>
        </p:txBody>
      </p:sp>
      <p:graphicFrame>
        <p:nvGraphicFramePr>
          <p:cNvPr id="115" name="Google Shape;115;p20"/>
          <p:cNvGraphicFramePr/>
          <p:nvPr/>
        </p:nvGraphicFramePr>
        <p:xfrm>
          <a:off x="264950" y="3261275"/>
          <a:ext cx="3000000" cy="3000000"/>
        </p:xfrm>
        <a:graphic>
          <a:graphicData uri="http://schemas.openxmlformats.org/drawingml/2006/table">
            <a:tbl>
              <a:tblPr>
                <a:noFill/>
                <a:tableStyleId>{C82BA829-6A89-494B-93C7-34DF5BC7DE1F}</a:tableStyleId>
              </a:tblPr>
              <a:tblGrid>
                <a:gridCol w="1620500"/>
                <a:gridCol w="1383600"/>
                <a:gridCol w="1477050"/>
                <a:gridCol w="2761450"/>
              </a:tblGrid>
              <a:tr h="100000">
                <a:tc>
                  <a:txBody>
                    <a:bodyPr wrap="square">
                      <a:normAutofit/>
                    </a:bodyPr>
                    <a:lstStyle/>
                    <a:p>
                      <a:pPr indent="0" lvl="0" marL="0" rtl="0" algn="ctr">
                        <a:spcBef>
                          <a:spcPts val="0"/>
                        </a:spcBef>
                        <a:spcAft>
                          <a:spcPts val="0"/>
                        </a:spcAft>
                        <a:buNone/>
                      </a:pPr>
                      <a:r>
                        <a:rPr sz="1000" b="1">
                          <a:solidFill>
                            <a:srgbClr val="FFFFFF"/>
                          </a:solidFill>
                          <a:latin typeface="Arial"/>
                        </a:rPr>
                        <a:t>Stakeholder</a:t>
                      </a:r>
                      <a:endParaRPr>
                        <a:solidFill>
                          <a:schemeClr val="lt1"/>
                        </a:solidFill>
                        <a:latin typeface="Open Sans"/>
                        <a:ea typeface="Open Sans"/>
                        <a:cs typeface="Open Sans"/>
                        <a:sym typeface="Open Sans"/>
                      </a:endParaRPr>
                    </a:p>
                  </a:txBody>
                  <a:tcPr marT="38100" marB="38100" marR="50800" marL="50800">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0A6C8"/>
                    </a:solidFill>
                  </a:tcPr>
                </a:tc>
                <a:tc>
                  <a:txBody>
                    <a:bodyPr wrap="square">
                      <a:normAutofit/>
                    </a:bodyPr>
                    <a:lstStyle/>
                    <a:p>
                      <a:pPr indent="0" lvl="0" marL="0" rtl="0" algn="ctr">
                        <a:spcBef>
                          <a:spcPts val="0"/>
                        </a:spcBef>
                        <a:spcAft>
                          <a:spcPts val="0"/>
                        </a:spcAft>
                        <a:buNone/>
                      </a:pPr>
                      <a:r>
                        <a:rPr sz="1000" b="1">
                          <a:solidFill>
                            <a:srgbClr val="FFFFFF"/>
                          </a:solidFill>
                          <a:latin typeface="Arial"/>
                        </a:rPr>
                        <a:t>Power Level</a:t>
                      </a:r>
                      <a:endParaRPr>
                        <a:solidFill>
                          <a:schemeClr val="lt1"/>
                        </a:solidFill>
                        <a:latin typeface="Open Sans"/>
                        <a:ea typeface="Open Sans"/>
                        <a:cs typeface="Open Sans"/>
                        <a:sym typeface="Open Sans"/>
                      </a:endParaRPr>
                    </a:p>
                  </a:txBody>
                  <a:tcPr marT="38100" marB="38100" marR="50800" marL="50800">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solidFill>
                      <a:srgbClr val="00A6C8"/>
                    </a:solidFill>
                  </a:tcPr>
                </a:tc>
                <a:tc>
                  <a:txBody>
                    <a:bodyPr wrap="square">
                      <a:normAutofit/>
                    </a:bodyPr>
                    <a:lstStyle/>
                    <a:p>
                      <a:pPr indent="0" lvl="0" marL="0" rtl="0" algn="ctr">
                        <a:spcBef>
                          <a:spcPts val="0"/>
                        </a:spcBef>
                        <a:spcAft>
                          <a:spcPts val="0"/>
                        </a:spcAft>
                        <a:buNone/>
                      </a:pPr>
                      <a:r>
                        <a:rPr sz="1000" b="1">
                          <a:solidFill>
                            <a:srgbClr val="FFFFFF"/>
                          </a:solidFill>
                          <a:latin typeface="Arial"/>
                        </a:rPr>
                        <a:t>Influence Level</a:t>
                      </a:r>
                      <a:endParaRPr>
                        <a:solidFill>
                          <a:schemeClr val="lt1"/>
                        </a:solidFill>
                        <a:latin typeface="Open Sans"/>
                        <a:ea typeface="Open Sans"/>
                        <a:cs typeface="Open Sans"/>
                        <a:sym typeface="Open Sans"/>
                      </a:endParaRPr>
                    </a:p>
                  </a:txBody>
                  <a:tcPr marT="38100" marB="38100" marR="50800" marL="50800">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solidFill>
                      <a:srgbClr val="00A6C8"/>
                    </a:solidFill>
                  </a:tcPr>
                </a:tc>
                <a:tc>
                  <a:txBody>
                    <a:bodyPr wrap="square">
                      <a:normAutofit/>
                    </a:bodyPr>
                    <a:lstStyle/>
                    <a:p>
                      <a:pPr indent="0" lvl="0" marL="0" rtl="0" algn="ctr">
                        <a:spcBef>
                          <a:spcPts val="0"/>
                        </a:spcBef>
                        <a:spcAft>
                          <a:spcPts val="0"/>
                        </a:spcAft>
                        <a:buNone/>
                      </a:pPr>
                      <a:r>
                        <a:rPr sz="1000" b="1">
                          <a:solidFill>
                            <a:srgbClr val="FFFFFF"/>
                          </a:solidFill>
                          <a:latin typeface="Arial"/>
                        </a:rPr>
                        <a:t>Assumptions and Risks</a:t>
                      </a:r>
                      <a:endParaRPr>
                        <a:solidFill>
                          <a:schemeClr val="lt1"/>
                        </a:solidFill>
                        <a:latin typeface="Open Sans"/>
                        <a:ea typeface="Open Sans"/>
                        <a:cs typeface="Open Sans"/>
                        <a:sym typeface="Open Sans"/>
                      </a:endParaRPr>
                    </a:p>
                  </a:txBody>
                  <a:tcPr marT="38100" marB="38100" marR="50800" marL="50800">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solidFill>
                      <a:srgbClr val="00A6C8"/>
                    </a:solidFill>
                  </a:tcPr>
                </a:tc>
              </a:tr>
              <a:tr h="239600">
                <a:tc>
                  <a:txBody>
                    <a:bodyPr wrap="square">
                      <a:normAutofit/>
                    </a:bodyPr>
                    <a:lstStyle/>
                    <a:p>
                      <a:pPr indent="0" lvl="0" marL="0" rtl="0" algn="ctr">
                        <a:spcBef>
                          <a:spcPts val="0"/>
                        </a:spcBef>
                        <a:spcAft>
                          <a:spcPts val="0"/>
                        </a:spcAft>
                        <a:buNone/>
                      </a:pPr>
                      <a:r>
                        <a:rPr sz="900" b="0">
                          <a:solidFill>
                            <a:srgbClr val="000000"/>
                          </a:solidFill>
                          <a:latin typeface="Arial"/>
                        </a:rPr>
                        <a:t>Papa Stefano</a:t>
                      </a:r>
                      <a:endParaRPr sz="11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1000" b="1">
                          <a:solidFill>
                            <a:srgbClr val="000000"/>
                          </a:solidFill>
                          <a:latin typeface="Arial"/>
                        </a:rPr>
                        <a:t>High</a:t>
                      </a:r>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1000" b="1">
                          <a:solidFill>
                            <a:srgbClr val="000000"/>
                          </a:solidFill>
                          <a:latin typeface="Arial"/>
                        </a:rPr>
                        <a:t>High</a:t>
                      </a:r>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298450" lvl="0" marL="457200" rtl="0" algn="l">
                        <a:lnSpc>
                          <a:spcPct val="115000"/>
                        </a:lnSpc>
                        <a:spcBef>
                          <a:spcPts val="0"/>
                        </a:spcBef>
                        <a:spcAft>
                          <a:spcPts val="0"/>
                        </a:spcAft>
                        <a:buClr>
                          <a:schemeClr val="dk1"/>
                        </a:buClr>
                        <a:buSzPts val="1100"/>
                        <a:buChar char="●"/>
                      </a:pPr>
                      <a:r>
                        <a:rPr sz="900" b="0">
                          <a:solidFill>
                            <a:srgbClr val="000000"/>
                          </a:solidFill>
                          <a:latin typeface="Arial"/>
                        </a:rPr>
                        <a:t>Decides for the family</a:t>
                      </a:r>
                      <a:endParaRPr sz="1100">
                        <a:solidFill>
                          <a:schemeClr val="dk1"/>
                        </a:solidFill>
                        <a:latin typeface="Open Sans"/>
                        <a:ea typeface="Open Sans"/>
                        <a:cs typeface="Open Sans"/>
                        <a:sym typeface="Open Sans"/>
                      </a:endParaRPr>
                    </a:p>
                    <a:p>
                      <a:r>
                        <a:rPr sz="900" b="0">
                          <a:solidFill>
                            <a:srgbClr val="000000"/>
                          </a:solidFill>
                          <a:latin typeface="Arial"/>
                        </a:rPr>
                        <a:t>Worries about the budget</a:t>
                      </a:r>
                    </a:p>
                  </a:txBody>
                  <a:tcPr marT="38100" marB="38100" marR="50800" marL="50800">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r h="100000">
                <a:tc>
                  <a:txBody>
                    <a:bodyPr wrap="square">
                      <a:normAutofit/>
                    </a:bodyPr>
                    <a:lstStyle/>
                    <a:p>
                      <a:pPr indent="0" lvl="0" marL="0" rtl="0" algn="ctr">
                        <a:spcBef>
                          <a:spcPts val="0"/>
                        </a:spcBef>
                        <a:spcAft>
                          <a:spcPts val="0"/>
                        </a:spcAft>
                        <a:buNone/>
                      </a:pPr>
                      <a:r>
                        <a:rPr sz="900" b="0">
                          <a:solidFill>
                            <a:srgbClr val="000000"/>
                          </a:solidFill>
                          <a:latin typeface="Arial"/>
                        </a:rPr>
                        <a:t>Mama Stefano</a:t>
                      </a:r>
                      <a:endParaRPr sz="11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1000" b="1">
                          <a:solidFill>
                            <a:srgbClr val="000000"/>
                          </a:solidFill>
                          <a:latin typeface="Arial"/>
                        </a:rPr>
                        <a:t>High</a:t>
                      </a:r>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1000" b="1">
                          <a:solidFill>
                            <a:srgbClr val="000000"/>
                          </a:solidFill>
                          <a:latin typeface="Arial"/>
                        </a:rPr>
                        <a:t>High</a:t>
                      </a:r>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298450" lvl="0" marL="457200" rtl="0" algn="l">
                        <a:lnSpc>
                          <a:spcPct val="115000"/>
                        </a:lnSpc>
                        <a:spcBef>
                          <a:spcPts val="0"/>
                        </a:spcBef>
                        <a:spcAft>
                          <a:spcPts val="0"/>
                        </a:spcAft>
                        <a:buClr>
                          <a:schemeClr val="dk1"/>
                        </a:buClr>
                        <a:buSzPts val="1100"/>
                        <a:buChar char="●"/>
                      </a:pPr>
                      <a:r>
                        <a:rPr sz="900" b="0">
                          <a:solidFill>
                            <a:srgbClr val="000000"/>
                          </a:solidFill>
                          <a:latin typeface="Arial"/>
                        </a:rPr>
                        <a:t>Influences the family decisions</a:t>
                      </a:r>
                      <a:endParaRPr sz="1100">
                        <a:solidFill>
                          <a:schemeClr val="dk1"/>
                        </a:solidFill>
                        <a:latin typeface="Open Sans"/>
                        <a:ea typeface="Open Sans"/>
                        <a:cs typeface="Open Sans"/>
                        <a:sym typeface="Open Sans"/>
                      </a:endParaRPr>
                    </a:p>
                    <a:p>
                      <a:r>
                        <a:rPr sz="900" b="0">
                          <a:solidFill>
                            <a:srgbClr val="000000"/>
                          </a:solidFill>
                          <a:latin typeface="Arial"/>
                        </a:rPr>
                        <a:t>Concerned about timing</a:t>
                      </a:r>
                    </a:p>
                  </a:txBody>
                  <a:tcPr marT="38100" marB="38100" marR="50800" marL="50800">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r h="100000">
                <a:tc>
                  <a:txBody>
                    <a:bodyPr wrap="square">
                      <a:normAutofit/>
                    </a:bodyPr>
                    <a:lstStyle/>
                    <a:p>
                      <a:pPr indent="0" lvl="0" marL="0" rtl="0" algn="ctr">
                        <a:spcBef>
                          <a:spcPts val="0"/>
                        </a:spcBef>
                        <a:spcAft>
                          <a:spcPts val="0"/>
                        </a:spcAft>
                        <a:buNone/>
                      </a:pPr>
                      <a:r>
                        <a:rPr sz="900" b="0">
                          <a:solidFill>
                            <a:srgbClr val="000000"/>
                          </a:solidFill>
                          <a:latin typeface="Arial"/>
                        </a:rPr>
                        <a:t>Junior Stefano</a:t>
                      </a:r>
                      <a:endParaRPr sz="11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1000" b="1">
                          <a:solidFill>
                            <a:srgbClr val="000000"/>
                          </a:solidFill>
                          <a:latin typeface="Arial"/>
                        </a:rPr>
                        <a:t>Low</a:t>
                      </a:r>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1000" b="1">
                          <a:solidFill>
                            <a:srgbClr val="000000"/>
                          </a:solidFill>
                          <a:latin typeface="Arial"/>
                        </a:rPr>
                        <a:t>High</a:t>
                      </a:r>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298450" lvl="0" marL="457200" rtl="0" algn="l">
                        <a:lnSpc>
                          <a:spcPct val="115000"/>
                        </a:lnSpc>
                        <a:spcBef>
                          <a:spcPts val="0"/>
                        </a:spcBef>
                        <a:spcAft>
                          <a:spcPts val="0"/>
                        </a:spcAft>
                        <a:buClr>
                          <a:schemeClr val="dk1"/>
                        </a:buClr>
                        <a:buSzPts val="1100"/>
                        <a:buChar char="●"/>
                      </a:pPr>
                      <a:r>
                        <a:rPr sz="900" b="0">
                          <a:solidFill>
                            <a:srgbClr val="000000"/>
                          </a:solidFill>
                          <a:latin typeface="Arial"/>
                        </a:rPr>
                        <a:t>Helps out in the business</a:t>
                      </a:r>
                      <a:endParaRPr sz="1100">
                        <a:solidFill>
                          <a:schemeClr val="dk1"/>
                        </a:solidFill>
                        <a:latin typeface="Open Sans"/>
                        <a:ea typeface="Open Sans"/>
                        <a:cs typeface="Open Sans"/>
                        <a:sym typeface="Open Sans"/>
                      </a:endParaRPr>
                    </a:p>
                    <a:p>
                      <a:r>
                        <a:rPr sz="900" b="0">
                          <a:solidFill>
                            <a:srgbClr val="000000"/>
                          </a:solidFill>
                          <a:latin typeface="Arial"/>
                        </a:rPr>
                        <a:t>Uses own account for the store</a:t>
                      </a:r>
                    </a:p>
                  </a:txBody>
                  <a:tcPr marT="38100" marB="38100" marR="50800" marL="50800">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r h="108600">
                <a:tc>
                  <a:txBody>
                    <a:bodyPr wrap="square">
                      <a:normAutofit/>
                    </a:bodyPr>
                    <a:lstStyle/>
                    <a:p>
                      <a:pPr indent="0" lvl="0" marL="0" rtl="0" algn="ctr">
                        <a:spcBef>
                          <a:spcPts val="0"/>
                        </a:spcBef>
                        <a:spcAft>
                          <a:spcPts val="0"/>
                        </a:spcAft>
                        <a:buClr>
                          <a:schemeClr val="dk1"/>
                        </a:buClr>
                        <a:buSzPts val="1100"/>
                        <a:buFont typeface="Arial"/>
                        <a:buNone/>
                      </a:pPr>
                      <a:r>
                        <a:rPr sz="900" b="0">
                          <a:solidFill>
                            <a:srgbClr val="000000"/>
                          </a:solidFill>
                          <a:latin typeface="Arial"/>
                        </a:rPr>
                        <a:t>Aliyah (Engineering Manager)</a:t>
                      </a:r>
                      <a:endParaRPr sz="11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1000" b="1">
                          <a:solidFill>
                            <a:srgbClr val="000000"/>
                          </a:solidFill>
                          <a:latin typeface="Arial"/>
                        </a:rPr>
                        <a:t>High</a:t>
                      </a:r>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1000" b="1">
                          <a:solidFill>
                            <a:srgbClr val="000000"/>
                          </a:solidFill>
                          <a:latin typeface="Arial"/>
                        </a:rPr>
                        <a:t>High</a:t>
                      </a:r>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298450" lvl="0" marL="457200" rtl="0" algn="l">
                        <a:lnSpc>
                          <a:spcPct val="115000"/>
                        </a:lnSpc>
                        <a:spcBef>
                          <a:spcPts val="0"/>
                        </a:spcBef>
                        <a:spcAft>
                          <a:spcPts val="0"/>
                        </a:spcAft>
                        <a:buClr>
                          <a:schemeClr val="dk1"/>
                        </a:buClr>
                        <a:buSzPts val="1100"/>
                        <a:buChar char="●"/>
                      </a:pPr>
                      <a:r>
                        <a:rPr sz="900" b="0">
                          <a:solidFill>
                            <a:srgbClr val="000000"/>
                          </a:solidFill>
                          <a:latin typeface="Arial"/>
                        </a:rPr>
                        <a:t>Leads all development work</a:t>
                      </a:r>
                      <a:endParaRPr sz="1100">
                        <a:solidFill>
                          <a:schemeClr val="dk1"/>
                        </a:solidFill>
                        <a:latin typeface="Open Sans"/>
                        <a:ea typeface="Open Sans"/>
                        <a:cs typeface="Open Sans"/>
                        <a:sym typeface="Open Sans"/>
                      </a:endParaRPr>
                    </a:p>
                    <a:p>
                      <a:r>
                        <a:rPr sz="900" b="0">
                          <a:solidFill>
                            <a:srgbClr val="000000"/>
                          </a:solidFill>
                          <a:latin typeface="Arial"/>
                        </a:rPr>
                        <a:t>Final decisions with engineering are hers</a:t>
                      </a:r>
                    </a:p>
                  </a:txBody>
                  <a:tcPr marT="38100" marB="38100" marR="50800" marL="50800">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r h="100000">
                <a:tc>
                  <a:txBody>
                    <a:bodyPr wrap="square">
                      <a:normAutofit/>
                    </a:bodyPr>
                    <a:lstStyle/>
                    <a:p>
                      <a:pPr indent="0" lvl="0" marL="0" rtl="0" algn="ctr">
                        <a:spcBef>
                          <a:spcPts val="0"/>
                        </a:spcBef>
                        <a:spcAft>
                          <a:spcPts val="0"/>
                        </a:spcAft>
                        <a:buNone/>
                      </a:pPr>
                      <a:r>
                        <a:rPr sz="900" b="0">
                          <a:solidFill>
                            <a:srgbClr val="000000"/>
                          </a:solidFill>
                          <a:latin typeface="Arial"/>
                        </a:rPr>
                        <a:t>Moe (Vendor Manager)</a:t>
                      </a:r>
                      <a:endParaRPr sz="11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1000" b="1">
                          <a:solidFill>
                            <a:srgbClr val="000000"/>
                          </a:solidFill>
                          <a:latin typeface="Arial"/>
                        </a:rPr>
                        <a:t>Low</a:t>
                      </a:r>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1000" b="1">
                          <a:solidFill>
                            <a:srgbClr val="000000"/>
                          </a:solidFill>
                          <a:latin typeface="Arial"/>
                        </a:rPr>
                        <a:t>High</a:t>
                      </a:r>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298450" lvl="0" marL="457200" rtl="0" algn="l">
                        <a:lnSpc>
                          <a:spcPct val="115000"/>
                        </a:lnSpc>
                        <a:spcBef>
                          <a:spcPts val="0"/>
                        </a:spcBef>
                        <a:spcAft>
                          <a:spcPts val="0"/>
                        </a:spcAft>
                        <a:buClr>
                          <a:schemeClr val="dk1"/>
                        </a:buClr>
                        <a:buSzPts val="1100"/>
                        <a:buChar char="●"/>
                      </a:pPr>
                      <a:r>
                        <a:rPr sz="900" b="0">
                          <a:solidFill>
                            <a:srgbClr val="000000"/>
                          </a:solidFill>
                          <a:latin typeface="Arial"/>
                        </a:rPr>
                        <a:t>Likes to upsell</a:t>
                      </a:r>
                      <a:endParaRPr sz="1100">
                        <a:solidFill>
                          <a:schemeClr val="dk1"/>
                        </a:solidFill>
                        <a:latin typeface="Open Sans"/>
                        <a:ea typeface="Open Sans"/>
                        <a:cs typeface="Open Sans"/>
                        <a:sym typeface="Open Sans"/>
                      </a:endParaRPr>
                    </a:p>
                    <a:p>
                      <a:r>
                        <a:rPr sz="900" b="0">
                          <a:solidFill>
                            <a:srgbClr val="000000"/>
                          </a:solidFill>
                          <a:latin typeface="Arial"/>
                        </a:rPr>
                        <a:t>Helps out in promotions</a:t>
                      </a:r>
                    </a:p>
                    <a:p>
                      <a:r>
                        <a:rPr sz="900" b="0">
                          <a:solidFill>
                            <a:srgbClr val="000000"/>
                          </a:solidFill>
                          <a:latin typeface="Arial"/>
                        </a:rPr>
                        <a:t>Only one of his many projects</a:t>
                      </a:r>
                    </a:p>
                  </a:txBody>
                  <a:tcPr marT="38100" marB="38100" marR="50800" marL="50800">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r h="100000">
                <a:tc>
                  <a:txBody>
                    <a:bodyPr wrap="square">
                      <a:normAutofit/>
                    </a:bodyPr>
                    <a:lstStyle/>
                    <a:p>
                      <a:pPr indent="0" lvl="0" marL="0" rtl="0" algn="ctr">
                        <a:spcBef>
                          <a:spcPts val="0"/>
                        </a:spcBef>
                        <a:spcAft>
                          <a:spcPts val="0"/>
                        </a:spcAft>
                        <a:buNone/>
                      </a:pPr>
                      <a:r>
                        <a:rPr sz="900" b="0">
                          <a:solidFill>
                            <a:srgbClr val="000000"/>
                          </a:solidFill>
                          <a:latin typeface="Arial"/>
                        </a:rPr>
                        <a:t>Taylor (Marketing Manager)</a:t>
                      </a:r>
                      <a:endParaRPr sz="11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1000" b="1">
                          <a:solidFill>
                            <a:srgbClr val="000000"/>
                          </a:solidFill>
                          <a:latin typeface="Arial"/>
                        </a:rPr>
                        <a:t>Low</a:t>
                      </a:r>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1000" b="1">
                          <a:solidFill>
                            <a:srgbClr val="000000"/>
                          </a:solidFill>
                          <a:latin typeface="Arial"/>
                        </a:rPr>
                        <a:t>Low</a:t>
                      </a:r>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298450" lvl="0" marL="457200" rtl="0" algn="l">
                        <a:lnSpc>
                          <a:spcPct val="115000"/>
                        </a:lnSpc>
                        <a:spcBef>
                          <a:spcPts val="0"/>
                        </a:spcBef>
                        <a:spcAft>
                          <a:spcPts val="0"/>
                        </a:spcAft>
                        <a:buClr>
                          <a:schemeClr val="dk1"/>
                        </a:buClr>
                        <a:buSzPts val="1100"/>
                        <a:buChar char="●"/>
                      </a:pPr>
                      <a:r>
                        <a:rPr sz="900" b="0">
                          <a:solidFill>
                            <a:srgbClr val="000000"/>
                          </a:solidFill>
                          <a:latin typeface="Arial"/>
                        </a:rPr>
                        <a:t>Can delay the tasks</a:t>
                      </a:r>
                      <a:endParaRPr sz="1100">
                        <a:solidFill>
                          <a:schemeClr val="dk1"/>
                        </a:solidFill>
                        <a:latin typeface="Open Sans"/>
                        <a:ea typeface="Open Sans"/>
                        <a:cs typeface="Open Sans"/>
                        <a:sym typeface="Open Sans"/>
                      </a:endParaRPr>
                    </a:p>
                    <a:p>
                      <a:r>
                        <a:rPr sz="900" b="0">
                          <a:solidFill>
                            <a:srgbClr val="000000"/>
                          </a:solidFill>
                          <a:latin typeface="Arial"/>
                        </a:rPr>
                        <a:t>Limited role for the project</a:t>
                      </a:r>
                    </a:p>
                  </a:txBody>
                  <a:tcPr marT="38100" marB="38100" marR="50800" marL="50800">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r h="208675">
                <a:tc>
                  <a:txBody>
                    <a:bodyPr wrap="square">
                      <a:normAutofit/>
                    </a:bodyPr>
                    <a:lstStyle/>
                    <a:p>
                      <a:pPr indent="0" lvl="0" marL="0" rtl="0" algn="ctr">
                        <a:spcBef>
                          <a:spcPts val="0"/>
                        </a:spcBef>
                        <a:spcAft>
                          <a:spcPts val="0"/>
                        </a:spcAft>
                        <a:buNone/>
                      </a:pPr>
                      <a:r>
                        <a:rPr sz="900" b="0">
                          <a:solidFill>
                            <a:srgbClr val="000000"/>
                          </a:solidFill>
                          <a:latin typeface="Arial"/>
                        </a:rPr>
                        <a:t>Lou (Program Manager)</a:t>
                      </a:r>
                      <a:endParaRPr sz="11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1000" b="1">
                          <a:solidFill>
                            <a:srgbClr val="000000"/>
                          </a:solidFill>
                          <a:latin typeface="Arial"/>
                        </a:rPr>
                        <a:t>High</a:t>
                      </a:r>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1000" b="1">
                          <a:solidFill>
                            <a:srgbClr val="000000"/>
                          </a:solidFill>
                          <a:latin typeface="Arial"/>
                        </a:rPr>
                        <a:t>Low</a:t>
                      </a:r>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298450" lvl="0" marL="457200" rtl="0" algn="l">
                        <a:lnSpc>
                          <a:spcPct val="115000"/>
                        </a:lnSpc>
                        <a:spcBef>
                          <a:spcPts val="0"/>
                        </a:spcBef>
                        <a:spcAft>
                          <a:spcPts val="0"/>
                        </a:spcAft>
                        <a:buClr>
                          <a:schemeClr val="dk1"/>
                        </a:buClr>
                        <a:buSzPts val="1100"/>
                        <a:buChar char="●"/>
                      </a:pPr>
                      <a:r>
                        <a:rPr sz="900" b="0">
                          <a:solidFill>
                            <a:srgbClr val="000000"/>
                          </a:solidFill>
                          <a:latin typeface="Arial"/>
                        </a:rPr>
                        <a:t>Only high-level overview</a:t>
                      </a:r>
                      <a:endParaRPr sz="1100">
                        <a:solidFill>
                          <a:schemeClr val="dk1"/>
                        </a:solidFill>
                        <a:latin typeface="Open Sans"/>
                        <a:ea typeface="Open Sans"/>
                        <a:cs typeface="Open Sans"/>
                        <a:sym typeface="Open Sans"/>
                      </a:endParaRPr>
                    </a:p>
                    <a:p>
                      <a:r>
                        <a:rPr sz="900" b="0">
                          <a:solidFill>
                            <a:srgbClr val="000000"/>
                          </a:solidFill>
                          <a:latin typeface="Arial"/>
                        </a:rPr>
                        <a:t>Can help when things go wrong</a:t>
                      </a:r>
                    </a:p>
                  </a:txBody>
                  <a:tcPr marT="38100" marB="38100" marR="50800" marL="50800">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r h="889250">
                <a:tc>
                  <a:txBody>
                    <a:bodyPr wrap="square">
                      <a:normAutofit/>
                    </a:bodyPr>
                    <a:lstStyle/>
                    <a:p>
                      <a:pPr indent="0" lvl="0" marL="0" rtl="0" algn="ctr">
                        <a:spcBef>
                          <a:spcPts val="0"/>
                        </a:spcBef>
                        <a:spcAft>
                          <a:spcPts val="0"/>
                        </a:spcAft>
                        <a:buNone/>
                      </a:pPr>
                      <a:r>
                        <a:rPr sz="900" b="0">
                          <a:solidFill>
                            <a:srgbClr val="000000"/>
                          </a:solidFill>
                          <a:latin typeface="Arial"/>
                        </a:rPr>
                        <a:t>Me (Project Manager)</a:t>
                      </a:r>
                      <a:endParaRPr sz="11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1000" b="1">
                          <a:solidFill>
                            <a:srgbClr val="000000"/>
                          </a:solidFill>
                          <a:latin typeface="Arial"/>
                        </a:rPr>
                        <a:t>Low</a:t>
                      </a:r>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1000" b="1">
                          <a:solidFill>
                            <a:srgbClr val="000000"/>
                          </a:solidFill>
                          <a:latin typeface="Arial"/>
                        </a:rPr>
                        <a:t>High</a:t>
                      </a:r>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298450" lvl="0" marL="457200" rtl="0" algn="l">
                        <a:lnSpc>
                          <a:spcPct val="115000"/>
                        </a:lnSpc>
                        <a:spcBef>
                          <a:spcPts val="0"/>
                        </a:spcBef>
                        <a:spcAft>
                          <a:spcPts val="0"/>
                        </a:spcAft>
                        <a:buClr>
                          <a:schemeClr val="dk1"/>
                        </a:buClr>
                        <a:buSzPts val="1100"/>
                        <a:buChar char="●"/>
                      </a:pPr>
                      <a:r>
                        <a:rPr sz="900" b="0">
                          <a:solidFill>
                            <a:srgbClr val="000000"/>
                          </a:solidFill>
                          <a:latin typeface="Arial"/>
                        </a:rPr>
                        <a:t>Executes the project in a timely manner</a:t>
                      </a:r>
                      <a:endParaRPr sz="1100">
                        <a:solidFill>
                          <a:schemeClr val="dk1"/>
                        </a:solidFill>
                        <a:latin typeface="Open Sans"/>
                        <a:ea typeface="Open Sans"/>
                        <a:cs typeface="Open Sans"/>
                        <a:sym typeface="Open Sans"/>
                      </a:endParaRPr>
                    </a:p>
                    <a:p>
                      <a:r>
                        <a:rPr sz="900" b="0">
                          <a:solidFill>
                            <a:srgbClr val="000000"/>
                          </a:solidFill>
                          <a:latin typeface="Arial"/>
                        </a:rPr>
                        <a:t>Follows the decision makers</a:t>
                      </a:r>
                    </a:p>
                  </a:txBody>
                  <a:tcPr marT="38100" marB="38100" marR="50800" marL="50800">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bl>
          </a:graphicData>
        </a:graphic>
      </p:graphicFrame>
      <p:sp>
        <p:nvSpPr>
          <p:cNvPr id="116" name="Google Shape;116;p20"/>
          <p:cNvSpPr txBox="1"/>
          <p:nvPr>
            <p:ph idx="1" type="body"/>
          </p:nvPr>
        </p:nvSpPr>
        <p:spPr>
          <a:xfrm>
            <a:off x="264950" y="2253726"/>
            <a:ext cx="7242600" cy="90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you learned in the </a:t>
            </a:r>
            <a:r>
              <a:rPr i="1" lang="en"/>
              <a:t>Setting up Your Project/Stakeholder's Power lesson</a:t>
            </a:r>
            <a:r>
              <a:rPr lang="en"/>
              <a:t>, this chart has </a:t>
            </a:r>
            <a:r>
              <a:rPr b="1" lang="en">
                <a:latin typeface="Open Sans"/>
                <a:ea typeface="Open Sans"/>
                <a:cs typeface="Open Sans"/>
                <a:sym typeface="Open Sans"/>
              </a:rPr>
              <a:t>only a "High" or "Low" classification</a:t>
            </a:r>
            <a:r>
              <a:rPr lang="en"/>
              <a:t>.</a:t>
            </a:r>
            <a:endParaRPr/>
          </a:p>
        </p:txBody>
      </p:sp>
      <p:sp>
        <p:nvSpPr>
          <p:cNvPr id="117" name="Google Shape;117;p20"/>
          <p:cNvSpPr txBox="1"/>
          <p:nvPr/>
        </p:nvSpPr>
        <p:spPr>
          <a:xfrm>
            <a:off x="264950" y="8838550"/>
            <a:ext cx="72426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525C65"/>
                </a:solidFill>
                <a:latin typeface="Open Sans"/>
                <a:ea typeface="Open Sans"/>
                <a:cs typeface="Open Sans"/>
                <a:sym typeface="Open Sans"/>
              </a:rPr>
              <a:t>HINT:</a:t>
            </a:r>
            <a:r>
              <a:rPr lang="en" sz="1800">
                <a:solidFill>
                  <a:srgbClr val="525C65"/>
                </a:solidFill>
                <a:latin typeface="Open Sans Light"/>
                <a:ea typeface="Open Sans Light"/>
                <a:cs typeface="Open Sans Light"/>
                <a:sym typeface="Open Sans Light"/>
              </a:rPr>
              <a:t> </a:t>
            </a:r>
            <a:r>
              <a:rPr lang="en" sz="1800">
                <a:solidFill>
                  <a:srgbClr val="525C65"/>
                </a:solidFill>
                <a:latin typeface="Open Sans Light"/>
                <a:ea typeface="Open Sans Light"/>
                <a:cs typeface="Open Sans Light"/>
                <a:sym typeface="Open Sans Light"/>
              </a:rPr>
              <a:t>Take a look at the Cast of Characters in the classroom or the </a:t>
            </a:r>
            <a:r>
              <a:rPr lang="en" sz="1800" u="sng">
                <a:solidFill>
                  <a:srgbClr val="525C65"/>
                </a:solidFill>
                <a:latin typeface="Open Sans Light"/>
                <a:ea typeface="Open Sans Light"/>
                <a:cs typeface="Open Sans Light"/>
                <a:sym typeface="Open Sans Light"/>
              </a:rPr>
              <a:t>6th and 7th slide</a:t>
            </a:r>
            <a:r>
              <a:rPr lang="en" sz="1800">
                <a:solidFill>
                  <a:srgbClr val="525C65"/>
                </a:solidFill>
                <a:latin typeface="Open Sans Light"/>
                <a:ea typeface="Open Sans Light"/>
                <a:cs typeface="Open Sans Light"/>
                <a:sym typeface="Open Sans Light"/>
              </a:rPr>
              <a:t> to learn more about each person.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RACI Chart</a:t>
            </a:r>
            <a:endParaRPr/>
          </a:p>
        </p:txBody>
      </p:sp>
      <p:sp>
        <p:nvSpPr>
          <p:cNvPr id="123" name="Google Shape;123;p21"/>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need to fill out a RACI chart for your team, as you learned in the </a:t>
            </a:r>
            <a:r>
              <a:rPr i="1" lang="en"/>
              <a:t>Setting up Your Project/Evaluating Team's Competency</a:t>
            </a:r>
            <a:r>
              <a:rPr lang="en"/>
              <a:t> lesson. In the case of this project, it is </a:t>
            </a:r>
            <a:r>
              <a:rPr b="1" lang="en">
                <a:latin typeface="Open Sans"/>
                <a:ea typeface="Open Sans"/>
                <a:cs typeface="Open Sans"/>
                <a:sym typeface="Open Sans"/>
              </a:rPr>
              <a:t>usually the same person who is Responsible are Accountable for a task</a:t>
            </a:r>
            <a:r>
              <a:rPr lang="en"/>
              <a:t>, since managers are working with their teams who are not part of the project.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Open Sans"/>
                <a:ea typeface="Open Sans"/>
                <a:cs typeface="Open Sans"/>
                <a:sym typeface="Open Sans"/>
              </a:rPr>
              <a:t>R</a:t>
            </a:r>
            <a:r>
              <a:rPr lang="en"/>
              <a:t>esponsible</a:t>
            </a:r>
            <a:r>
              <a:rPr b="1" lang="en">
                <a:latin typeface="Open Sans"/>
                <a:ea typeface="Open Sans"/>
                <a:cs typeface="Open Sans"/>
                <a:sym typeface="Open Sans"/>
              </a:rPr>
              <a:t>:</a:t>
            </a:r>
            <a:r>
              <a:rPr lang="en"/>
              <a:t> Stakeholders who will be responsible for </a:t>
            </a:r>
            <a:r>
              <a:rPr b="1" i="1" lang="en">
                <a:latin typeface="Open Sans"/>
                <a:ea typeface="Open Sans"/>
                <a:cs typeface="Open Sans"/>
                <a:sym typeface="Open Sans"/>
              </a:rPr>
              <a:t>executing actual tasks</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Open Sans"/>
                <a:ea typeface="Open Sans"/>
                <a:cs typeface="Open Sans"/>
                <a:sym typeface="Open Sans"/>
              </a:rPr>
              <a:t>A</a:t>
            </a:r>
            <a:r>
              <a:rPr lang="en"/>
              <a:t>ccountable</a:t>
            </a:r>
            <a:r>
              <a:rPr b="1" lang="en">
                <a:latin typeface="Open Sans"/>
                <a:ea typeface="Open Sans"/>
                <a:cs typeface="Open Sans"/>
                <a:sym typeface="Open Sans"/>
              </a:rPr>
              <a:t>:</a:t>
            </a:r>
            <a:r>
              <a:rPr lang="en"/>
              <a:t> The stakeholder - usually a manager - who has the duty of </a:t>
            </a:r>
            <a:r>
              <a:rPr b="1" i="1" lang="en">
                <a:latin typeface="Open Sans"/>
                <a:ea typeface="Open Sans"/>
                <a:cs typeface="Open Sans"/>
                <a:sym typeface="Open Sans"/>
              </a:rPr>
              <a:t>approving</a:t>
            </a:r>
            <a:r>
              <a:rPr lang="en"/>
              <a:t> whether a task is truly being completed; there can only be one accountable person per task.</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Open Sans"/>
                <a:ea typeface="Open Sans"/>
                <a:cs typeface="Open Sans"/>
                <a:sym typeface="Open Sans"/>
              </a:rPr>
              <a:t>C</a:t>
            </a:r>
            <a:r>
              <a:rPr lang="en"/>
              <a:t>onsult</a:t>
            </a:r>
            <a:r>
              <a:rPr b="1" lang="en">
                <a:latin typeface="Open Sans"/>
                <a:ea typeface="Open Sans"/>
                <a:cs typeface="Open Sans"/>
                <a:sym typeface="Open Sans"/>
              </a:rPr>
              <a:t>:</a:t>
            </a:r>
            <a:r>
              <a:rPr lang="en"/>
              <a:t> Anyone who has valuable insight necessary to successfully execute a task; there can be more than one consult for each task.</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Open Sans"/>
                <a:ea typeface="Open Sans"/>
                <a:cs typeface="Open Sans"/>
                <a:sym typeface="Open Sans"/>
              </a:rPr>
              <a:t>I</a:t>
            </a:r>
            <a:r>
              <a:rPr lang="en"/>
              <a:t>nformed</a:t>
            </a:r>
            <a:r>
              <a:rPr b="1" lang="en">
                <a:latin typeface="Open Sans"/>
                <a:ea typeface="Open Sans"/>
                <a:cs typeface="Open Sans"/>
                <a:sym typeface="Open Sans"/>
              </a:rPr>
              <a:t>:</a:t>
            </a:r>
            <a:r>
              <a:rPr lang="en"/>
              <a:t> A stakeholder who expects to receive information and updates about a particular task. Most stakeholders will fall into this category.</a:t>
            </a:r>
            <a:endParaRPr/>
          </a:p>
          <a:p>
            <a:pPr indent="0" lvl="0" marL="0" rtl="0" algn="l">
              <a:spcBef>
                <a:spcPts val="0"/>
              </a:spcBef>
              <a:spcAft>
                <a:spcPts val="0"/>
              </a:spcAft>
              <a:buNone/>
            </a:pPr>
            <a:r>
              <a:t/>
            </a:r>
            <a:endParaRPr/>
          </a:p>
          <a:p>
            <a:pPr indent="0" lvl="0" marL="0" rtl="0" algn="l">
              <a:spcBef>
                <a:spcPts val="0"/>
              </a:spcBef>
              <a:spcAft>
                <a:spcPts val="16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RACI Chart Sample Solution</a:t>
            </a:r>
            <a:endParaRPr/>
          </a:p>
        </p:txBody>
      </p:sp>
      <p:sp>
        <p:nvSpPr>
          <p:cNvPr id="129" name="Google Shape;129;p22"/>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There are questions you can ask that help you figure out the RACI chart. Let's do that for the first task: </a:t>
            </a:r>
            <a:r>
              <a:rPr b="1" lang="en">
                <a:latin typeface="Open Sans"/>
                <a:ea typeface="Open Sans"/>
                <a:cs typeface="Open Sans"/>
                <a:sym typeface="Open Sans"/>
              </a:rPr>
              <a:t>Build storefront</a:t>
            </a:r>
            <a:r>
              <a:rPr lang="en"/>
              <a:t>.</a:t>
            </a:r>
            <a:endParaRPr/>
          </a:p>
          <a:p>
            <a:pPr indent="0" lvl="0" marL="0" rtl="0" algn="l">
              <a:spcBef>
                <a:spcPts val="1600"/>
              </a:spcBef>
              <a:spcAft>
                <a:spcPts val="0"/>
              </a:spcAft>
              <a:buClr>
                <a:schemeClr val="dk1"/>
              </a:buClr>
              <a:buSzPts val="1100"/>
              <a:buFont typeface="Arial"/>
              <a:buNone/>
            </a:pPr>
            <a:r>
              <a:rPr b="1" lang="en">
                <a:latin typeface="Open Sans"/>
                <a:ea typeface="Open Sans"/>
                <a:cs typeface="Open Sans"/>
                <a:sym typeface="Open Sans"/>
              </a:rPr>
              <a:t>Responsible</a:t>
            </a:r>
            <a:r>
              <a:rPr lang="en"/>
              <a:t>: Who in the team builds the storefront? </a:t>
            </a:r>
            <a:r>
              <a:rPr b="1" lang="en">
                <a:latin typeface="Open Sans"/>
                <a:ea typeface="Open Sans"/>
                <a:cs typeface="Open Sans"/>
                <a:sym typeface="Open Sans"/>
              </a:rPr>
              <a:t>Aliyah</a:t>
            </a:r>
            <a:r>
              <a:rPr lang="en"/>
              <a:t>, as she is the engineering manager.</a:t>
            </a:r>
            <a:endParaRPr/>
          </a:p>
          <a:p>
            <a:pPr indent="0" lvl="0" marL="0" rtl="0" algn="l">
              <a:spcBef>
                <a:spcPts val="1600"/>
              </a:spcBef>
              <a:spcAft>
                <a:spcPts val="0"/>
              </a:spcAft>
              <a:buClr>
                <a:schemeClr val="dk1"/>
              </a:buClr>
              <a:buSzPts val="1100"/>
              <a:buFont typeface="Arial"/>
              <a:buNone/>
            </a:pPr>
            <a:r>
              <a:rPr b="1" lang="en">
                <a:latin typeface="Open Sans"/>
                <a:ea typeface="Open Sans"/>
                <a:cs typeface="Open Sans"/>
                <a:sym typeface="Open Sans"/>
              </a:rPr>
              <a:t>Accountable</a:t>
            </a:r>
            <a:r>
              <a:rPr lang="en"/>
              <a:t>: Who can approve the finished storefront? </a:t>
            </a:r>
            <a:r>
              <a:rPr b="1" lang="en">
                <a:latin typeface="Open Sans"/>
                <a:ea typeface="Open Sans"/>
                <a:cs typeface="Open Sans"/>
                <a:sym typeface="Open Sans"/>
              </a:rPr>
              <a:t>Aliyah</a:t>
            </a:r>
            <a:r>
              <a:rPr lang="en"/>
              <a:t>, since she is the one who knows the technical problems. </a:t>
            </a:r>
            <a:endParaRPr/>
          </a:p>
          <a:p>
            <a:pPr indent="0" lvl="0" marL="0" rtl="0" algn="l">
              <a:spcBef>
                <a:spcPts val="1600"/>
              </a:spcBef>
              <a:spcAft>
                <a:spcPts val="0"/>
              </a:spcAft>
              <a:buClr>
                <a:schemeClr val="dk1"/>
              </a:buClr>
              <a:buSzPts val="1100"/>
              <a:buFont typeface="Arial"/>
              <a:buNone/>
            </a:pPr>
            <a:r>
              <a:rPr b="1" lang="en">
                <a:latin typeface="Open Sans"/>
                <a:ea typeface="Open Sans"/>
                <a:cs typeface="Open Sans"/>
                <a:sym typeface="Open Sans"/>
              </a:rPr>
              <a:t>Consult</a:t>
            </a:r>
            <a:r>
              <a:rPr lang="en"/>
              <a:t>: Who can provide valuable insight while building the storefront? </a:t>
            </a:r>
            <a:r>
              <a:rPr b="1" lang="en">
                <a:latin typeface="Open Sans"/>
                <a:ea typeface="Open Sans"/>
                <a:cs typeface="Open Sans"/>
                <a:sym typeface="Open Sans"/>
              </a:rPr>
              <a:t>Moe</a:t>
            </a:r>
            <a:r>
              <a:rPr lang="en"/>
              <a:t>, as he is the vendor manager, and the storefront is for them.</a:t>
            </a:r>
            <a:endParaRPr/>
          </a:p>
          <a:p>
            <a:pPr indent="0" lvl="0" marL="0" rtl="0" algn="l">
              <a:spcBef>
                <a:spcPts val="1600"/>
              </a:spcBef>
              <a:spcAft>
                <a:spcPts val="0"/>
              </a:spcAft>
              <a:buClr>
                <a:schemeClr val="dk1"/>
              </a:buClr>
              <a:buSzPts val="1100"/>
              <a:buFont typeface="Arial"/>
              <a:buNone/>
            </a:pPr>
            <a:r>
              <a:rPr b="1" lang="en">
                <a:latin typeface="Open Sans"/>
                <a:ea typeface="Open Sans"/>
                <a:cs typeface="Open Sans"/>
                <a:sym typeface="Open Sans"/>
              </a:rPr>
              <a:t>Informed</a:t>
            </a:r>
            <a:r>
              <a:rPr lang="en"/>
              <a:t>: Who needs to be kept informed about progress on this task? It can be all other people (</a:t>
            </a:r>
            <a:r>
              <a:rPr b="1" lang="en">
                <a:latin typeface="Open Sans"/>
                <a:ea typeface="Open Sans"/>
                <a:cs typeface="Open Sans"/>
                <a:sym typeface="Open Sans"/>
              </a:rPr>
              <a:t>Me, Lou, Taylor</a:t>
            </a:r>
            <a:r>
              <a:rPr lang="en"/>
              <a:t>) as other tasks depend on this one.</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aphicFrame>
        <p:nvGraphicFramePr>
          <p:cNvPr id="134" name="Google Shape;134;p23"/>
          <p:cNvGraphicFramePr/>
          <p:nvPr/>
        </p:nvGraphicFramePr>
        <p:xfrm>
          <a:off x="191900" y="4050000"/>
          <a:ext cx="3000000" cy="3000000"/>
        </p:xfrm>
        <a:graphic>
          <a:graphicData uri="http://schemas.openxmlformats.org/drawingml/2006/table">
            <a:tbl>
              <a:tblPr>
                <a:noFill/>
                <a:tableStyleId>{C82BA829-6A89-494B-93C7-34DF5BC7DE1F}</a:tableStyleId>
              </a:tblPr>
              <a:tblGrid>
                <a:gridCol w="1631800"/>
                <a:gridCol w="1061300"/>
                <a:gridCol w="1091325"/>
                <a:gridCol w="1141375"/>
                <a:gridCol w="1231450"/>
                <a:gridCol w="1231450"/>
              </a:tblGrid>
              <a:tr h="613200">
                <a:tc>
                  <a:txBody>
                    <a:bodyPr wrap="square">
                      <a:normAutofit/>
                    </a:bodyPr>
                    <a:lstStyle/>
                    <a:p>
                      <a:pPr indent="0" lvl="0" marL="0" rtl="0" algn="ctr">
                        <a:spcBef>
                          <a:spcPts val="0"/>
                        </a:spcBef>
                        <a:spcAft>
                          <a:spcPts val="0"/>
                        </a:spcAft>
                        <a:buNone/>
                      </a:pPr>
                      <a:r>
                        <a:rPr sz="760" b="1">
                          <a:solidFill>
                            <a:srgbClr val="FFFFFF"/>
                          </a:solidFill>
                          <a:latin typeface="Arial"/>
                        </a:rPr>
                        <a:t>Tasks</a:t>
                      </a:r>
                      <a:endParaRPr sz="1200">
                        <a:solidFill>
                          <a:schemeClr val="lt1"/>
                        </a:solidFill>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0A6C8"/>
                    </a:solidFill>
                  </a:tcPr>
                </a:tc>
                <a:tc>
                  <a:txBody>
                    <a:bodyPr wrap="square">
                      <a:normAutofit/>
                    </a:bodyPr>
                    <a:lstStyle/>
                    <a:p>
                      <a:pPr indent="0" lvl="0" marL="0" rtl="0" algn="ctr">
                        <a:spcBef>
                          <a:spcPts val="0"/>
                        </a:spcBef>
                        <a:spcAft>
                          <a:spcPts val="0"/>
                        </a:spcAft>
                        <a:buClr>
                          <a:schemeClr val="dk1"/>
                        </a:buClr>
                        <a:buSzPts val="1100"/>
                        <a:buFont typeface="Arial"/>
                        <a:buNone/>
                      </a:pPr>
                      <a:r>
                        <a:rPr sz="760" b="1">
                          <a:solidFill>
                            <a:srgbClr val="FFFFFF"/>
                          </a:solidFill>
                          <a:latin typeface="Arial"/>
                        </a:rPr>
                        <a:t>Me, Project Manager</a:t>
                      </a:r>
                      <a:endParaRPr sz="1200">
                        <a:solidFill>
                          <a:schemeClr val="lt1"/>
                        </a:solidFill>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solidFill>
                      <a:srgbClr val="00A6C8"/>
                    </a:solidFill>
                  </a:tcPr>
                </a:tc>
                <a:tc>
                  <a:txBody>
                    <a:bodyPr wrap="square">
                      <a:normAutofit/>
                    </a:bodyPr>
                    <a:lstStyle/>
                    <a:p>
                      <a:pPr indent="0" lvl="0" marL="0" rtl="0" algn="ctr">
                        <a:spcBef>
                          <a:spcPts val="0"/>
                        </a:spcBef>
                        <a:spcAft>
                          <a:spcPts val="0"/>
                        </a:spcAft>
                        <a:buNone/>
                      </a:pPr>
                      <a:r>
                        <a:rPr sz="760" b="1">
                          <a:solidFill>
                            <a:srgbClr val="FFFFFF"/>
                          </a:solidFill>
                          <a:latin typeface="Arial"/>
                        </a:rPr>
                        <a:t>Lou, Program Manager</a:t>
                      </a:r>
                      <a:endParaRPr sz="1200">
                        <a:solidFill>
                          <a:schemeClr val="lt1"/>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0A6C8"/>
                    </a:solidFill>
                  </a:tcPr>
                </a:tc>
                <a:tc>
                  <a:txBody>
                    <a:bodyPr wrap="square">
                      <a:normAutofit/>
                    </a:bodyPr>
                    <a:lstStyle/>
                    <a:p>
                      <a:pPr indent="0" lvl="0" marL="0" rtl="0" algn="ctr">
                        <a:spcBef>
                          <a:spcPts val="0"/>
                        </a:spcBef>
                        <a:spcAft>
                          <a:spcPts val="0"/>
                        </a:spcAft>
                        <a:buNone/>
                      </a:pPr>
                      <a:r>
                        <a:rPr sz="760" b="1">
                          <a:solidFill>
                            <a:srgbClr val="FFFFFF"/>
                          </a:solidFill>
                          <a:latin typeface="Arial"/>
                        </a:rPr>
                        <a:t>Taylor, Marketing Manager</a:t>
                      </a:r>
                      <a:endParaRPr sz="1200">
                        <a:solidFill>
                          <a:schemeClr val="lt1"/>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0A6C8"/>
                    </a:solidFill>
                  </a:tcPr>
                </a:tc>
                <a:tc>
                  <a:txBody>
                    <a:bodyPr wrap="square">
                      <a:normAutofit/>
                    </a:bodyPr>
                    <a:lstStyle/>
                    <a:p>
                      <a:pPr indent="0" lvl="0" marL="0" rtl="0" algn="ctr">
                        <a:spcBef>
                          <a:spcPts val="0"/>
                        </a:spcBef>
                        <a:spcAft>
                          <a:spcPts val="0"/>
                        </a:spcAft>
                        <a:buNone/>
                      </a:pPr>
                      <a:r>
                        <a:rPr sz="760" b="1">
                          <a:solidFill>
                            <a:srgbClr val="FFFFFF"/>
                          </a:solidFill>
                          <a:latin typeface="Arial"/>
                        </a:rPr>
                        <a:t>Moe, Vendor Manager</a:t>
                      </a:r>
                      <a:endParaRPr sz="1200">
                        <a:solidFill>
                          <a:schemeClr val="lt1"/>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0A6C8"/>
                    </a:solidFill>
                  </a:tcPr>
                </a:tc>
                <a:tc>
                  <a:txBody>
                    <a:bodyPr wrap="square">
                      <a:normAutofit/>
                    </a:bodyPr>
                    <a:lstStyle/>
                    <a:p>
                      <a:pPr indent="0" lvl="0" marL="0" rtl="0" algn="ctr">
                        <a:spcBef>
                          <a:spcPts val="0"/>
                        </a:spcBef>
                        <a:spcAft>
                          <a:spcPts val="0"/>
                        </a:spcAft>
                        <a:buNone/>
                      </a:pPr>
                      <a:r>
                        <a:rPr sz="760" b="1">
                          <a:solidFill>
                            <a:srgbClr val="FFFFFF"/>
                          </a:solidFill>
                          <a:latin typeface="Arial"/>
                        </a:rPr>
                        <a:t>Aliyah, Engineering Manager</a:t>
                      </a:r>
                      <a:endParaRPr sz="1200">
                        <a:solidFill>
                          <a:schemeClr val="lt1"/>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0A6C8"/>
                    </a:solidFill>
                  </a:tcPr>
                </a:tc>
              </a:tr>
              <a:tr h="623200">
                <a:tc>
                  <a:txBody>
                    <a:bodyPr wrap="square">
                      <a:normAutofit/>
                    </a:bodyPr>
                    <a:lstStyle/>
                    <a:p>
                      <a:pPr indent="0" lvl="0" marL="0" rtl="0" algn="ctr">
                        <a:spcBef>
                          <a:spcPts val="0"/>
                        </a:spcBef>
                        <a:spcAft>
                          <a:spcPts val="0"/>
                        </a:spcAft>
                        <a:buNone/>
                      </a:pPr>
                      <a:r>
                        <a:rPr sz="770" b="0">
                          <a:solidFill>
                            <a:srgbClr val="000000"/>
                          </a:solidFill>
                          <a:latin typeface="Arial"/>
                        </a:rPr>
                        <a:t>Build storefront</a:t>
                      </a:r>
                      <a:endParaRPr sz="12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C</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A/R</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r h="623200">
                <a:tc>
                  <a:txBody>
                    <a:bodyPr wrap="square">
                      <a:normAutofit/>
                    </a:bodyPr>
                    <a:lstStyle/>
                    <a:p>
                      <a:pPr indent="0" lvl="0" marL="0" rtl="0" algn="ctr">
                        <a:spcBef>
                          <a:spcPts val="0"/>
                        </a:spcBef>
                        <a:spcAft>
                          <a:spcPts val="0"/>
                        </a:spcAft>
                        <a:buNone/>
                      </a:pPr>
                      <a:r>
                        <a:rPr sz="770" b="0">
                          <a:solidFill>
                            <a:srgbClr val="000000"/>
                          </a:solidFill>
                          <a:latin typeface="Arial"/>
                        </a:rPr>
                        <a:t>Input Inventory Data</a:t>
                      </a:r>
                      <a:endParaRPr sz="12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A/R</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C</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r h="373000">
                <a:tc>
                  <a:txBody>
                    <a:bodyPr wrap="square">
                      <a:normAutofit/>
                    </a:bodyPr>
                    <a:lstStyle/>
                    <a:p>
                      <a:pPr indent="0" lvl="0" marL="0" rtl="0" algn="ctr">
                        <a:spcBef>
                          <a:spcPts val="0"/>
                        </a:spcBef>
                        <a:spcAft>
                          <a:spcPts val="0"/>
                        </a:spcAft>
                        <a:buNone/>
                      </a:pPr>
                      <a:r>
                        <a:rPr sz="770" b="0">
                          <a:solidFill>
                            <a:srgbClr val="000000"/>
                          </a:solidFill>
                          <a:latin typeface="Arial"/>
                        </a:rPr>
                        <a:t>Build social media integration</a:t>
                      </a:r>
                      <a:endParaRPr sz="12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C</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C</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A/R</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r h="633200">
                <a:tc>
                  <a:txBody>
                    <a:bodyPr wrap="square">
                      <a:normAutofit/>
                    </a:bodyPr>
                    <a:lstStyle/>
                    <a:p>
                      <a:pPr indent="0" lvl="0" marL="0" rtl="0" algn="ctr">
                        <a:spcBef>
                          <a:spcPts val="0"/>
                        </a:spcBef>
                        <a:spcAft>
                          <a:spcPts val="0"/>
                        </a:spcAft>
                        <a:buNone/>
                      </a:pPr>
                      <a:r>
                        <a:rPr sz="770" b="0">
                          <a:solidFill>
                            <a:srgbClr val="000000"/>
                          </a:solidFill>
                          <a:latin typeface="Arial"/>
                        </a:rPr>
                        <a:t>Train Stefano’s on platform</a:t>
                      </a:r>
                      <a:endParaRPr sz="12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A/R</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C</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r h="625500">
                <a:tc>
                  <a:txBody>
                    <a:bodyPr wrap="square">
                      <a:normAutofit/>
                    </a:bodyPr>
                    <a:lstStyle/>
                    <a:p>
                      <a:pPr indent="0" lvl="0" marL="0" rtl="0" algn="ctr">
                        <a:spcBef>
                          <a:spcPts val="0"/>
                        </a:spcBef>
                        <a:spcAft>
                          <a:spcPts val="0"/>
                        </a:spcAft>
                        <a:buNone/>
                      </a:pPr>
                      <a:r>
                        <a:rPr sz="770" b="0">
                          <a:solidFill>
                            <a:srgbClr val="000000"/>
                          </a:solidFill>
                          <a:latin typeface="Arial"/>
                        </a:rPr>
                        <a:t>Create social media channels</a:t>
                      </a:r>
                      <a:endParaRPr sz="12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A/R</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C</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r h="573175">
                <a:tc>
                  <a:txBody>
                    <a:bodyPr wrap="square">
                      <a:normAutofit/>
                    </a:bodyPr>
                    <a:lstStyle/>
                    <a:p>
                      <a:pPr indent="0" lvl="0" marL="0" rtl="0" algn="ctr">
                        <a:spcBef>
                          <a:spcPts val="0"/>
                        </a:spcBef>
                        <a:spcAft>
                          <a:spcPts val="0"/>
                        </a:spcAft>
                        <a:buNone/>
                      </a:pPr>
                      <a:r>
                        <a:rPr sz="770" b="0">
                          <a:solidFill>
                            <a:srgbClr val="000000"/>
                          </a:solidFill>
                          <a:latin typeface="Arial"/>
                        </a:rPr>
                        <a:t>Build recommendation engine</a:t>
                      </a:r>
                      <a:endParaRPr sz="12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C</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C</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A/R</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r h="603200">
                <a:tc>
                  <a:txBody>
                    <a:bodyPr wrap="square">
                      <a:normAutofit/>
                    </a:bodyPr>
                    <a:lstStyle/>
                    <a:p>
                      <a:pPr indent="0" lvl="0" marL="0" rtl="0" algn="ctr">
                        <a:spcBef>
                          <a:spcPts val="0"/>
                        </a:spcBef>
                        <a:spcAft>
                          <a:spcPts val="0"/>
                        </a:spcAft>
                        <a:buNone/>
                      </a:pPr>
                      <a:r>
                        <a:rPr sz="770" b="0">
                          <a:solidFill>
                            <a:srgbClr val="000000"/>
                          </a:solidFill>
                          <a:latin typeface="Arial"/>
                        </a:rPr>
                        <a:t>Create Custom Sales Report</a:t>
                      </a:r>
                      <a:endParaRPr sz="12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A/R</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C</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r h="393000">
                <a:tc>
                  <a:txBody>
                    <a:bodyPr wrap="square">
                      <a:normAutofit/>
                    </a:bodyPr>
                    <a:lstStyle/>
                    <a:p>
                      <a:pPr indent="0" lvl="0" marL="0" rtl="0" algn="ctr">
                        <a:spcBef>
                          <a:spcPts val="0"/>
                        </a:spcBef>
                        <a:spcAft>
                          <a:spcPts val="0"/>
                        </a:spcAft>
                        <a:buNone/>
                      </a:pPr>
                      <a:r>
                        <a:rPr sz="770" b="0">
                          <a:solidFill>
                            <a:srgbClr val="000000"/>
                          </a:solidFill>
                          <a:latin typeface="Arial"/>
                        </a:rPr>
                        <a:t>Engage stakeholders</a:t>
                      </a:r>
                      <a:endParaRPr sz="1200">
                        <a:solidFill>
                          <a:srgbClr val="FFFFFF"/>
                        </a:solidFill>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12700">
                      <a:solidFill>
                        <a:srgbClr val="DBE2E8"/>
                      </a:solidFill>
                      <a:prstDash val="solid"/>
                      <a:round/>
                      <a:headEnd len="sm" w="sm" type="none"/>
                      <a:tailEnd len="sm" w="sm" type="none"/>
                    </a:lnR>
                    <a:lnT cap="flat" cmpd="sng" w="12700">
                      <a:solidFill>
                        <a:srgbClr val="DBE2E8"/>
                      </a:solidFill>
                      <a:prstDash val="solid"/>
                      <a:round/>
                      <a:headEnd len="sm" w="sm" type="none"/>
                      <a:tailEnd len="sm" w="sm" type="none"/>
                    </a:lnT>
                    <a:lnB cap="flat" cmpd="sng" w="12700">
                      <a:solidFill>
                        <a:srgbClr val="DBE2E8"/>
                      </a:solidFill>
                      <a:prstDash val="solid"/>
                      <a:round/>
                      <a:headEnd len="sm" w="sm" type="none"/>
                      <a:tailEnd len="sm" w="sm" type="none"/>
                    </a:lnB>
                    <a:solidFill>
                      <a:srgbClr val="02B3E4"/>
                    </a:solidFill>
                  </a:tcPr>
                </a:tc>
                <a:tc>
                  <a:txBody>
                    <a:bodyPr wrap="square">
                      <a:normAutofit/>
                    </a:bodyPr>
                    <a:lstStyle/>
                    <a:p>
                      <a:pPr indent="0" lvl="0" marL="0" rtl="0" algn="ctr">
                        <a:spcBef>
                          <a:spcPts val="0"/>
                        </a:spcBef>
                        <a:spcAft>
                          <a:spcPts val="0"/>
                        </a:spcAft>
                        <a:buNone/>
                      </a:pPr>
                      <a:r>
                        <a:rPr sz="770" b="0">
                          <a:solidFill>
                            <a:srgbClr val="000000"/>
                          </a:solidFill>
                          <a:latin typeface="Arial"/>
                        </a:rPr>
                        <a:t>R</a:t>
                      </a:r>
                      <a:endParaRPr>
                        <a:latin typeface="Open Sans"/>
                        <a:ea typeface="Open Sans"/>
                        <a:cs typeface="Open Sans"/>
                        <a:sym typeface="Open Sans"/>
                      </a:endParaRPr>
                    </a:p>
                  </a:txBody>
                  <a:tcPr marT="38100" marB="38100" marR="50800" marL="50800" anchor="ctr">
                    <a:lnL cap="flat" cmpd="sng" w="12700">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A</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c>
                  <a:txBody>
                    <a:bodyPr wrap="square">
                      <a:normAutofit/>
                    </a:bodyPr>
                    <a:lstStyle/>
                    <a:p>
                      <a:pPr indent="0" lvl="0" marL="0" rtl="0" algn="ctr">
                        <a:spcBef>
                          <a:spcPts val="0"/>
                        </a:spcBef>
                        <a:spcAft>
                          <a:spcPts val="0"/>
                        </a:spcAft>
                        <a:buNone/>
                      </a:pPr>
                      <a:r>
                        <a:rPr sz="770" b="0">
                          <a:solidFill>
                            <a:srgbClr val="000000"/>
                          </a:solidFill>
                          <a:latin typeface="Arial"/>
                        </a:rPr>
                        <a:t>I</a:t>
                      </a:r>
                      <a:endParaRPr>
                        <a:latin typeface="Open Sans"/>
                        <a:ea typeface="Open Sans"/>
                        <a:cs typeface="Open Sans"/>
                        <a:sym typeface="Open Sans"/>
                      </a:endParaRPr>
                    </a:p>
                  </a:txBody>
                  <a:tcPr marT="38100" marB="38100" marR="50800" marL="50800" anchor="ctr">
                    <a:lnL cap="flat" cmpd="sng" w="9525">
                      <a:solidFill>
                        <a:srgbClr val="DBE2E8"/>
                      </a:solidFill>
                      <a:prstDash val="solid"/>
                      <a:round/>
                      <a:headEnd len="sm" w="sm" type="none"/>
                      <a:tailEnd len="sm" w="sm" type="none"/>
                    </a:lnL>
                    <a:lnR cap="flat" cmpd="sng" w="9525">
                      <a:solidFill>
                        <a:srgbClr val="DBE2E8"/>
                      </a:solidFill>
                      <a:prstDash val="solid"/>
                      <a:round/>
                      <a:headEnd len="sm" w="sm" type="none"/>
                      <a:tailEnd len="sm" w="sm" type="none"/>
                    </a:lnR>
                    <a:lnT cap="flat" cmpd="sng" w="9525">
                      <a:solidFill>
                        <a:srgbClr val="DBE2E8"/>
                      </a:solidFill>
                      <a:prstDash val="solid"/>
                      <a:round/>
                      <a:headEnd len="sm" w="sm" type="none"/>
                      <a:tailEnd len="sm" w="sm" type="none"/>
                    </a:lnT>
                    <a:lnB cap="flat" cmpd="sng" w="9525">
                      <a:solidFill>
                        <a:srgbClr val="DBE2E8"/>
                      </a:solidFill>
                      <a:prstDash val="solid"/>
                      <a:round/>
                      <a:headEnd len="sm" w="sm" type="none"/>
                      <a:tailEnd len="sm" w="sm" type="none"/>
                    </a:lnB>
                  </a:tcPr>
                </a:tc>
              </a:tr>
            </a:tbl>
          </a:graphicData>
        </a:graphic>
      </p:graphicFrame>
      <p:sp>
        <p:nvSpPr>
          <p:cNvPr id="135" name="Google Shape;135;p23"/>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RACI Chart</a:t>
            </a:r>
            <a:endParaRPr/>
          </a:p>
        </p:txBody>
      </p:sp>
      <p:sp>
        <p:nvSpPr>
          <p:cNvPr id="136" name="Google Shape;136;p23"/>
          <p:cNvSpPr txBox="1"/>
          <p:nvPr>
            <p:ph idx="1" type="body"/>
          </p:nvPr>
        </p:nvSpPr>
        <p:spPr>
          <a:xfrm>
            <a:off x="264950" y="2253722"/>
            <a:ext cx="7242600" cy="165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Light"/>
                <a:ea typeface="Open Sans Light"/>
                <a:cs typeface="Open Sans Light"/>
                <a:sym typeface="Open Sans Light"/>
              </a:rPr>
              <a:t>Take a look at the </a:t>
            </a:r>
            <a:r>
              <a:rPr b="1" lang="en"/>
              <a:t>5th slide:</a:t>
            </a:r>
            <a:r>
              <a:rPr lang="en">
                <a:latin typeface="Open Sans Light"/>
                <a:ea typeface="Open Sans Light"/>
                <a:cs typeface="Open Sans Light"/>
                <a:sym typeface="Open Sans Light"/>
              </a:rPr>
              <a:t> "Yosemite teams and tasks," for information. Each manager has a team that works with them; therefore, they are Accountable AND Responsible for the work they do. Unlike them, you have a boss who needs to approve of your work. </a:t>
            </a:r>
            <a:endParaRPr>
              <a:latin typeface="Open Sans Light"/>
              <a:ea typeface="Open Sans Light"/>
              <a:cs typeface="Open Sans Light"/>
              <a:sym typeface="Open Sans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264900" y="2160200"/>
            <a:ext cx="7242600" cy="255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Step Three:</a:t>
            </a:r>
            <a:endParaRPr/>
          </a:p>
          <a:p>
            <a:pPr indent="0" lvl="0" marL="0" rtl="0" algn="l">
              <a:spcBef>
                <a:spcPts val="0"/>
              </a:spcBef>
              <a:spcAft>
                <a:spcPts val="0"/>
              </a:spcAft>
              <a:buNone/>
            </a:pPr>
            <a:r>
              <a:rPr lang="en"/>
              <a:t>Create a Project Plan</a:t>
            </a:r>
            <a:endParaRPr/>
          </a:p>
        </p:txBody>
      </p:sp>
      <p:sp>
        <p:nvSpPr>
          <p:cNvPr id="142" name="Google Shape;142;p24"/>
          <p:cNvSpPr txBox="1"/>
          <p:nvPr>
            <p:ph idx="4294967295"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Digital Project Management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Create a Project Plan</a:t>
            </a:r>
            <a:endParaRPr/>
          </a:p>
        </p:txBody>
      </p:sp>
      <p:sp>
        <p:nvSpPr>
          <p:cNvPr id="148" name="Google Shape;148;p25"/>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In this step, you will reference the project scope, stakeholder analysis, and RACI chart to create a project plan for the proposed methodology.</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Build a model of your plan for managing the Yosemite project. It should be a snapshot of the planning phase of the project. You can use the dates in your current year when creating the project plan.</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Display this model in one of the two frameworks,</a:t>
            </a:r>
            <a:endParaRPr/>
          </a:p>
          <a:p>
            <a:pPr indent="0" lvl="0" marL="0" rtl="0" algn="l">
              <a:lnSpc>
                <a:spcPct val="100000"/>
              </a:lnSpc>
              <a:spcBef>
                <a:spcPts val="0"/>
              </a:spcBef>
              <a:spcAft>
                <a:spcPts val="0"/>
              </a:spcAft>
              <a:buClr>
                <a:schemeClr val="dk1"/>
              </a:buClr>
              <a:buSzPts val="1100"/>
              <a:buFont typeface="Arial"/>
              <a:buNone/>
            </a:pPr>
            <a:r>
              <a:rPr lang="en"/>
              <a:t> </a:t>
            </a:r>
            <a:endParaRPr/>
          </a:p>
          <a:p>
            <a:pPr indent="-342900" lvl="0" marL="457200" rtl="0" algn="l">
              <a:lnSpc>
                <a:spcPct val="100000"/>
              </a:lnSpc>
              <a:spcBef>
                <a:spcPts val="0"/>
              </a:spcBef>
              <a:spcAft>
                <a:spcPts val="0"/>
              </a:spcAft>
              <a:buSzPts val="1800"/>
              <a:buAutoNum type="arabicPeriod"/>
            </a:pPr>
            <a:r>
              <a:rPr lang="en"/>
              <a:t>A Gantt chart for Waterfall  </a:t>
            </a:r>
            <a:r>
              <a:rPr b="1" i="1" lang="en">
                <a:latin typeface="Open Sans"/>
                <a:ea typeface="Open Sans"/>
                <a:cs typeface="Open Sans"/>
                <a:sym typeface="Open Sans"/>
              </a:rPr>
              <a:t>OR</a:t>
            </a:r>
            <a:endParaRPr b="1" i="1">
              <a:latin typeface="Open Sans"/>
              <a:ea typeface="Open Sans"/>
              <a:cs typeface="Open Sans"/>
              <a:sym typeface="Open Sans"/>
            </a:endParaRPr>
          </a:p>
          <a:p>
            <a:pPr indent="-342900" lvl="0" marL="457200" rtl="0" algn="l">
              <a:lnSpc>
                <a:spcPct val="100000"/>
              </a:lnSpc>
              <a:spcBef>
                <a:spcPts val="0"/>
              </a:spcBef>
              <a:spcAft>
                <a:spcPts val="0"/>
              </a:spcAft>
              <a:buSzPts val="1800"/>
              <a:buAutoNum type="arabicPeriod"/>
            </a:pPr>
            <a:r>
              <a:rPr lang="en"/>
              <a:t>a Scrum board for Agile.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After you pick one model, be sure to </a:t>
            </a:r>
            <a:r>
              <a:rPr b="1" lang="en">
                <a:latin typeface="Open Sans"/>
                <a:ea typeface="Open Sans"/>
                <a:cs typeface="Open Sans"/>
                <a:sym typeface="Open Sans"/>
              </a:rPr>
              <a:t>include the information outlined in your project scope, stakeholder analysis, and RACI chart</a:t>
            </a:r>
            <a:r>
              <a:rPr lang="en"/>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Instructions based on your method</a:t>
            </a:r>
            <a:endParaRPr/>
          </a:p>
        </p:txBody>
      </p:sp>
      <p:sp>
        <p:nvSpPr>
          <p:cNvPr id="154" name="Google Shape;154;p26"/>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2600">
                <a:latin typeface="Open Sans"/>
                <a:ea typeface="Open Sans"/>
                <a:cs typeface="Open Sans"/>
                <a:sym typeface="Open Sans"/>
              </a:rPr>
              <a:t>Waterfall Project Plan</a:t>
            </a:r>
            <a:endParaRPr b="1" sz="2600">
              <a:latin typeface="Open Sans"/>
              <a:ea typeface="Open Sans"/>
              <a:cs typeface="Open Sans"/>
              <a:sym typeface="Open Sans"/>
            </a:endParaRPr>
          </a:p>
          <a:p>
            <a:pPr indent="0" lvl="0" marL="0" rtl="0" algn="ctr">
              <a:lnSpc>
                <a:spcPct val="100000"/>
              </a:lnSpc>
              <a:spcBef>
                <a:spcPts val="0"/>
              </a:spcBef>
              <a:spcAft>
                <a:spcPts val="0"/>
              </a:spcAft>
              <a:buNone/>
            </a:pPr>
            <a:r>
              <a:t/>
            </a:r>
            <a:endParaRPr b="1" sz="2600">
              <a:latin typeface="Open Sans"/>
              <a:ea typeface="Open Sans"/>
              <a:cs typeface="Open Sans"/>
              <a:sym typeface="Open Sans"/>
            </a:endParaRPr>
          </a:p>
          <a:p>
            <a:pPr indent="-355600" lvl="0" marL="457200" rtl="0" algn="l">
              <a:lnSpc>
                <a:spcPct val="100000"/>
              </a:lnSpc>
              <a:spcBef>
                <a:spcPts val="0"/>
              </a:spcBef>
              <a:spcAft>
                <a:spcPts val="0"/>
              </a:spcAft>
              <a:buSzPts val="2000"/>
              <a:buChar char="-"/>
            </a:pPr>
            <a:r>
              <a:rPr lang="en" sz="2000"/>
              <a:t>You need to create a Gantt chart</a:t>
            </a:r>
            <a:endParaRPr sz="2000"/>
          </a:p>
          <a:p>
            <a:pPr indent="-355600" lvl="0" marL="457200" rtl="0" algn="l">
              <a:lnSpc>
                <a:spcPct val="100000"/>
              </a:lnSpc>
              <a:spcBef>
                <a:spcPts val="0"/>
              </a:spcBef>
              <a:spcAft>
                <a:spcPts val="0"/>
              </a:spcAft>
              <a:buSzPts val="2000"/>
              <a:buChar char="-"/>
            </a:pPr>
            <a:r>
              <a:rPr lang="en" sz="2000"/>
              <a:t>Implement everything from the Project Plan Details on slide 21</a:t>
            </a:r>
            <a:endParaRPr sz="2000"/>
          </a:p>
          <a:p>
            <a:pPr indent="-355600" lvl="0" marL="457200" rtl="0" algn="l">
              <a:lnSpc>
                <a:spcPct val="100000"/>
              </a:lnSpc>
              <a:spcBef>
                <a:spcPts val="0"/>
              </a:spcBef>
              <a:spcAft>
                <a:spcPts val="0"/>
              </a:spcAft>
              <a:buSzPts val="2000"/>
              <a:buChar char="-"/>
            </a:pPr>
            <a:r>
              <a:rPr lang="en" sz="2000"/>
              <a:t>Follow the </a:t>
            </a:r>
            <a:r>
              <a:rPr lang="en" sz="2000"/>
              <a:t>instructions</a:t>
            </a:r>
            <a:r>
              <a:rPr lang="en" sz="2000"/>
              <a:t> on slide 22</a:t>
            </a:r>
            <a:endParaRPr sz="2000"/>
          </a:p>
          <a:p>
            <a:pPr indent="-355600" lvl="0" marL="457200" rtl="0" algn="l">
              <a:lnSpc>
                <a:spcPct val="100000"/>
              </a:lnSpc>
              <a:spcBef>
                <a:spcPts val="0"/>
              </a:spcBef>
              <a:spcAft>
                <a:spcPts val="0"/>
              </a:spcAft>
              <a:buSzPts val="2000"/>
              <a:buChar char="-"/>
            </a:pPr>
            <a:r>
              <a:rPr lang="en" sz="2000"/>
              <a:t>Skip slides 23-25, go to slide 26 and continue the project.</a:t>
            </a:r>
            <a:endParaRPr sz="2000"/>
          </a:p>
          <a:p>
            <a:pPr indent="0" lvl="0" marL="0" rtl="0" algn="l">
              <a:lnSpc>
                <a:spcPct val="100000"/>
              </a:lnSpc>
              <a:spcBef>
                <a:spcPts val="0"/>
              </a:spcBef>
              <a:spcAft>
                <a:spcPts val="0"/>
              </a:spcAft>
              <a:buNone/>
            </a:pPr>
            <a:r>
              <a:t/>
            </a:r>
            <a:endParaRPr b="1" sz="2400">
              <a:latin typeface="Open Sans"/>
              <a:ea typeface="Open Sans"/>
              <a:cs typeface="Open Sans"/>
              <a:sym typeface="Open Sans"/>
            </a:endParaRPr>
          </a:p>
          <a:p>
            <a:pPr indent="0" lvl="0" marL="0" rtl="0" algn="ctr">
              <a:lnSpc>
                <a:spcPct val="100000"/>
              </a:lnSpc>
              <a:spcBef>
                <a:spcPts val="0"/>
              </a:spcBef>
              <a:spcAft>
                <a:spcPts val="0"/>
              </a:spcAft>
              <a:buNone/>
            </a:pPr>
            <a:r>
              <a:rPr b="1" lang="en" sz="2600">
                <a:latin typeface="Open Sans"/>
                <a:ea typeface="Open Sans"/>
                <a:cs typeface="Open Sans"/>
                <a:sym typeface="Open Sans"/>
              </a:rPr>
              <a:t>Agile Project Plan</a:t>
            </a:r>
            <a:endParaRPr b="1" sz="2600">
              <a:latin typeface="Open Sans"/>
              <a:ea typeface="Open Sans"/>
              <a:cs typeface="Open Sans"/>
              <a:sym typeface="Open Sans"/>
            </a:endParaRPr>
          </a:p>
          <a:p>
            <a:pPr indent="0" lvl="0" marL="0" rtl="0" algn="ctr">
              <a:lnSpc>
                <a:spcPct val="100000"/>
              </a:lnSpc>
              <a:spcBef>
                <a:spcPts val="0"/>
              </a:spcBef>
              <a:spcAft>
                <a:spcPts val="0"/>
              </a:spcAft>
              <a:buNone/>
            </a:pPr>
            <a:r>
              <a:t/>
            </a:r>
            <a:endParaRPr b="1" sz="2600">
              <a:latin typeface="Open Sans"/>
              <a:ea typeface="Open Sans"/>
              <a:cs typeface="Open Sans"/>
              <a:sym typeface="Open Sans"/>
            </a:endParaRPr>
          </a:p>
          <a:p>
            <a:pPr indent="-355600" lvl="0" marL="457200" rtl="0" algn="l">
              <a:lnSpc>
                <a:spcPct val="100000"/>
              </a:lnSpc>
              <a:spcBef>
                <a:spcPts val="0"/>
              </a:spcBef>
              <a:spcAft>
                <a:spcPts val="0"/>
              </a:spcAft>
              <a:buSzPts val="2000"/>
              <a:buChar char="-"/>
            </a:pPr>
            <a:r>
              <a:rPr lang="en" sz="2000"/>
              <a:t>You need to create a Trello board</a:t>
            </a:r>
            <a:endParaRPr sz="2000"/>
          </a:p>
          <a:p>
            <a:pPr indent="-355600" lvl="0" marL="457200" rtl="0" algn="l">
              <a:lnSpc>
                <a:spcPct val="100000"/>
              </a:lnSpc>
              <a:spcBef>
                <a:spcPts val="0"/>
              </a:spcBef>
              <a:spcAft>
                <a:spcPts val="0"/>
              </a:spcAft>
              <a:buSzPts val="2000"/>
              <a:buChar char="-"/>
            </a:pPr>
            <a:r>
              <a:rPr lang="en" sz="2000"/>
              <a:t>Implement everything from the Project Plan Details on slide 21</a:t>
            </a:r>
            <a:endParaRPr sz="2000"/>
          </a:p>
          <a:p>
            <a:pPr indent="-355600" lvl="0" marL="457200" rtl="0" algn="l">
              <a:lnSpc>
                <a:spcPct val="100000"/>
              </a:lnSpc>
              <a:spcBef>
                <a:spcPts val="0"/>
              </a:spcBef>
              <a:spcAft>
                <a:spcPts val="0"/>
              </a:spcAft>
              <a:buSzPts val="2000"/>
              <a:buChar char="-"/>
            </a:pPr>
            <a:r>
              <a:rPr lang="en" sz="2000"/>
              <a:t>Skip slide 22 </a:t>
            </a:r>
            <a:endParaRPr sz="2000"/>
          </a:p>
          <a:p>
            <a:pPr indent="-355600" lvl="0" marL="457200" rtl="0" algn="l">
              <a:lnSpc>
                <a:spcPct val="100000"/>
              </a:lnSpc>
              <a:spcBef>
                <a:spcPts val="0"/>
              </a:spcBef>
              <a:spcAft>
                <a:spcPts val="0"/>
              </a:spcAft>
              <a:buSzPts val="2000"/>
              <a:buChar char="-"/>
            </a:pPr>
            <a:r>
              <a:rPr lang="en" sz="2000"/>
              <a:t>Follow the </a:t>
            </a:r>
            <a:r>
              <a:rPr lang="en" sz="2000"/>
              <a:t>instructions</a:t>
            </a:r>
            <a:r>
              <a:rPr lang="en" sz="2000"/>
              <a:t> on slide 23-25</a:t>
            </a:r>
            <a:endParaRPr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 Plan Details</a:t>
            </a:r>
            <a:endParaRPr/>
          </a:p>
        </p:txBody>
      </p:sp>
      <p:sp>
        <p:nvSpPr>
          <p:cNvPr id="160" name="Google Shape;160;p27"/>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000"/>
              <a:t>In the project plan you should include at least the following tasks:</a:t>
            </a:r>
            <a:endParaRPr sz="2000"/>
          </a:p>
          <a:p>
            <a:pPr indent="-355600" lvl="0" marL="457200" rtl="0" algn="l">
              <a:lnSpc>
                <a:spcPct val="100000"/>
              </a:lnSpc>
              <a:spcBef>
                <a:spcPts val="0"/>
              </a:spcBef>
              <a:spcAft>
                <a:spcPts val="0"/>
              </a:spcAft>
              <a:buSzPts val="2000"/>
              <a:buFont typeface="Open Sans"/>
              <a:buChar char="-"/>
            </a:pPr>
            <a:r>
              <a:rPr b="1" lang="en" sz="2000">
                <a:latin typeface="Open Sans"/>
                <a:ea typeface="Open Sans"/>
                <a:cs typeface="Open Sans"/>
                <a:sym typeface="Open Sans"/>
              </a:rPr>
              <a:t>All tasks from the RACI Chart</a:t>
            </a:r>
            <a:endParaRPr b="1" sz="2000">
              <a:latin typeface="Open Sans"/>
              <a:ea typeface="Open Sans"/>
              <a:cs typeface="Open Sans"/>
              <a:sym typeface="Open Sans"/>
            </a:endParaRPr>
          </a:p>
          <a:p>
            <a:pPr indent="-355600" lvl="0" marL="457200" rtl="0" algn="l">
              <a:lnSpc>
                <a:spcPct val="100000"/>
              </a:lnSpc>
              <a:spcBef>
                <a:spcPts val="0"/>
              </a:spcBef>
              <a:spcAft>
                <a:spcPts val="0"/>
              </a:spcAft>
              <a:buSzPts val="2000"/>
              <a:buChar char="-"/>
            </a:pPr>
            <a:r>
              <a:rPr lang="en" sz="2000"/>
              <a:t>At least </a:t>
            </a:r>
            <a:r>
              <a:rPr b="1" lang="en" sz="2000">
                <a:latin typeface="Open Sans"/>
                <a:ea typeface="Open Sans"/>
                <a:cs typeface="Open Sans"/>
                <a:sym typeface="Open Sans"/>
              </a:rPr>
              <a:t>3 Status Reports</a:t>
            </a:r>
            <a:r>
              <a:rPr lang="en" sz="2000"/>
              <a:t> - where you think it is appropriate</a:t>
            </a:r>
            <a:endParaRPr sz="2000"/>
          </a:p>
          <a:p>
            <a:pPr indent="-355600" lvl="0" marL="457200" rtl="0" algn="l">
              <a:lnSpc>
                <a:spcPct val="100000"/>
              </a:lnSpc>
              <a:spcBef>
                <a:spcPts val="0"/>
              </a:spcBef>
              <a:spcAft>
                <a:spcPts val="0"/>
              </a:spcAft>
              <a:buSzPts val="2000"/>
              <a:buChar char="-"/>
            </a:pPr>
            <a:r>
              <a:rPr lang="en" sz="2000"/>
              <a:t>Follow the additional instructions for your plan depending on your method</a:t>
            </a:r>
            <a:endParaRPr sz="2000"/>
          </a:p>
          <a:p>
            <a:pPr indent="0" lvl="0" marL="0" rtl="0" algn="l">
              <a:lnSpc>
                <a:spcPct val="100000"/>
              </a:lnSpc>
              <a:spcBef>
                <a:spcPts val="0"/>
              </a:spcBef>
              <a:spcAft>
                <a:spcPts val="0"/>
              </a:spcAft>
              <a:buNone/>
            </a:pPr>
            <a:r>
              <a:t/>
            </a:r>
            <a:endParaRPr sz="2000"/>
          </a:p>
          <a:p>
            <a:pPr indent="0" lvl="0" marL="0" rtl="0" algn="l">
              <a:lnSpc>
                <a:spcPct val="100000"/>
              </a:lnSpc>
              <a:spcBef>
                <a:spcPts val="0"/>
              </a:spcBef>
              <a:spcAft>
                <a:spcPts val="0"/>
              </a:spcAft>
              <a:buNone/>
            </a:pPr>
            <a:r>
              <a:rPr lang="en" sz="2000"/>
              <a:t>You can assume the status reports take one day, and the documentation tasks 1-3 days.</a:t>
            </a:r>
            <a:endParaRPr sz="2000"/>
          </a:p>
          <a:p>
            <a:pPr indent="0" lvl="0" marL="0" rtl="0" algn="l">
              <a:lnSpc>
                <a:spcPct val="100000"/>
              </a:lnSpc>
              <a:spcBef>
                <a:spcPts val="0"/>
              </a:spcBef>
              <a:spcAft>
                <a:spcPts val="0"/>
              </a:spcAft>
              <a:buNone/>
            </a:pPr>
            <a:r>
              <a:t/>
            </a:r>
            <a:endParaRPr sz="2000"/>
          </a:p>
          <a:p>
            <a:pPr indent="0" lvl="0" marL="0" rtl="0" algn="l">
              <a:lnSpc>
                <a:spcPct val="100000"/>
              </a:lnSpc>
              <a:spcBef>
                <a:spcPts val="0"/>
              </a:spcBef>
              <a:spcAft>
                <a:spcPts val="0"/>
              </a:spcAft>
              <a:buNone/>
            </a:pPr>
            <a:r>
              <a:rPr b="1" lang="en" sz="2000">
                <a:latin typeface="Open Sans"/>
                <a:ea typeface="Open Sans"/>
                <a:cs typeface="Open Sans"/>
                <a:sym typeface="Open Sans"/>
              </a:rPr>
              <a:t>Pay </a:t>
            </a:r>
            <a:r>
              <a:rPr b="1" lang="en" sz="2000">
                <a:latin typeface="Open Sans"/>
                <a:ea typeface="Open Sans"/>
                <a:cs typeface="Open Sans"/>
                <a:sym typeface="Open Sans"/>
              </a:rPr>
              <a:t>attention</a:t>
            </a:r>
            <a:r>
              <a:rPr b="1" lang="en" sz="2000">
                <a:latin typeface="Open Sans"/>
                <a:ea typeface="Open Sans"/>
                <a:cs typeface="Open Sans"/>
                <a:sym typeface="Open Sans"/>
              </a:rPr>
              <a:t> to:</a:t>
            </a:r>
            <a:endParaRPr b="1" sz="2000">
              <a:latin typeface="Open Sans"/>
              <a:ea typeface="Open Sans"/>
              <a:cs typeface="Open Sans"/>
              <a:sym typeface="Open Sans"/>
            </a:endParaRPr>
          </a:p>
          <a:p>
            <a:pPr indent="0" lvl="0" marL="0" rtl="0" algn="l">
              <a:lnSpc>
                <a:spcPct val="100000"/>
              </a:lnSpc>
              <a:spcBef>
                <a:spcPts val="0"/>
              </a:spcBef>
              <a:spcAft>
                <a:spcPts val="0"/>
              </a:spcAft>
              <a:buNone/>
            </a:pPr>
            <a:r>
              <a:t/>
            </a:r>
            <a:endParaRPr b="1" sz="2000">
              <a:latin typeface="Open Sans"/>
              <a:ea typeface="Open Sans"/>
              <a:cs typeface="Open Sans"/>
              <a:sym typeface="Open Sans"/>
            </a:endParaRPr>
          </a:p>
          <a:p>
            <a:pPr indent="-355600" lvl="0" marL="457200" rtl="0" algn="l">
              <a:lnSpc>
                <a:spcPct val="100000"/>
              </a:lnSpc>
              <a:spcBef>
                <a:spcPts val="0"/>
              </a:spcBef>
              <a:spcAft>
                <a:spcPts val="0"/>
              </a:spcAft>
              <a:buSzPts val="2000"/>
              <a:buChar char="●"/>
            </a:pPr>
            <a:r>
              <a:rPr lang="en" sz="2000"/>
              <a:t>It is a snapshot of the planning phase of the project</a:t>
            </a:r>
            <a:endParaRPr sz="2000"/>
          </a:p>
          <a:p>
            <a:pPr indent="-355600" lvl="0" marL="457200" rtl="0" algn="l">
              <a:lnSpc>
                <a:spcPct val="100000"/>
              </a:lnSpc>
              <a:spcBef>
                <a:spcPts val="0"/>
              </a:spcBef>
              <a:spcAft>
                <a:spcPts val="0"/>
              </a:spcAft>
              <a:buSzPts val="2000"/>
              <a:buChar char="●"/>
            </a:pPr>
            <a:r>
              <a:rPr lang="en" sz="2000"/>
              <a:t>You can only </a:t>
            </a:r>
            <a:r>
              <a:rPr lang="en" sz="2000"/>
              <a:t>assign</a:t>
            </a:r>
            <a:r>
              <a:rPr lang="en" sz="2000"/>
              <a:t> tasks to Yosemite employees</a:t>
            </a:r>
            <a:endParaRPr sz="2000"/>
          </a:p>
          <a:p>
            <a:pPr indent="-355600" lvl="0" marL="457200" rtl="0" algn="l">
              <a:lnSpc>
                <a:spcPct val="100000"/>
              </a:lnSpc>
              <a:spcBef>
                <a:spcPts val="0"/>
              </a:spcBef>
              <a:spcAft>
                <a:spcPts val="0"/>
              </a:spcAft>
              <a:buSzPts val="2000"/>
              <a:buChar char="●"/>
            </a:pPr>
            <a:r>
              <a:rPr lang="en" sz="2000"/>
              <a:t>The date of the tasks must correlate with the project plan</a:t>
            </a:r>
            <a:endParaRPr sz="2000"/>
          </a:p>
          <a:p>
            <a:pPr indent="-355600" lvl="0" marL="457200" rtl="0" algn="l">
              <a:lnSpc>
                <a:spcPct val="100000"/>
              </a:lnSpc>
              <a:spcBef>
                <a:spcPts val="0"/>
              </a:spcBef>
              <a:spcAft>
                <a:spcPts val="0"/>
              </a:spcAft>
              <a:buSzPts val="2000"/>
              <a:buChar char="●"/>
            </a:pPr>
            <a:r>
              <a:rPr lang="en" sz="2000"/>
              <a:t>All </a:t>
            </a:r>
            <a:r>
              <a:rPr lang="en" sz="2000"/>
              <a:t>tasks</a:t>
            </a:r>
            <a:r>
              <a:rPr lang="en" sz="2000"/>
              <a:t> must have a start date and due date</a:t>
            </a:r>
            <a:endParaRPr sz="2000"/>
          </a:p>
          <a:p>
            <a:pPr indent="-355600" lvl="0" marL="457200" rtl="0" algn="l">
              <a:lnSpc>
                <a:spcPct val="100000"/>
              </a:lnSpc>
              <a:spcBef>
                <a:spcPts val="0"/>
              </a:spcBef>
              <a:spcAft>
                <a:spcPts val="0"/>
              </a:spcAft>
              <a:buSzPts val="2000"/>
              <a:buChar char="●"/>
            </a:pPr>
            <a:r>
              <a:rPr lang="en" sz="2000"/>
              <a:t>All tasks must be assigned to the relevant person</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Additional Instructions for the</a:t>
            </a:r>
            <a:endParaRPr/>
          </a:p>
          <a:p>
            <a:pPr indent="0" lvl="0" marL="0" rtl="0" algn="l">
              <a:spcBef>
                <a:spcPts val="0"/>
              </a:spcBef>
              <a:spcAft>
                <a:spcPts val="0"/>
              </a:spcAft>
              <a:buNone/>
            </a:pPr>
            <a:r>
              <a:rPr lang="en"/>
              <a:t>Waterfall </a:t>
            </a:r>
            <a:r>
              <a:rPr lang="en"/>
              <a:t>Project Plan</a:t>
            </a:r>
            <a:endParaRPr/>
          </a:p>
        </p:txBody>
      </p:sp>
      <p:sp>
        <p:nvSpPr>
          <p:cNvPr id="166" name="Google Shape;166;p28"/>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a:t>If you choose a Waterfall project plan in Step 2, you should include additional tasks related to stakeholder engagement, team management, and closure activities. </a:t>
            </a:r>
            <a:endParaRPr/>
          </a:p>
          <a:p>
            <a:pPr indent="0" lvl="0" marL="0" rtl="0" algn="l">
              <a:spcBef>
                <a:spcPts val="1200"/>
              </a:spcBef>
              <a:spcAft>
                <a:spcPts val="0"/>
              </a:spcAft>
              <a:buNone/>
            </a:pPr>
            <a:r>
              <a:rPr lang="en"/>
              <a:t>You have to include </a:t>
            </a:r>
            <a:r>
              <a:rPr b="1" lang="en">
                <a:latin typeface="Open Sans"/>
                <a:ea typeface="Open Sans"/>
                <a:cs typeface="Open Sans"/>
                <a:sym typeface="Open Sans"/>
              </a:rPr>
              <a:t>at least the following additional tasks:</a:t>
            </a:r>
            <a:endParaRPr b="1">
              <a:latin typeface="Open Sans"/>
              <a:ea typeface="Open Sans"/>
              <a:cs typeface="Open Sans"/>
              <a:sym typeface="Open Sans"/>
            </a:endParaRPr>
          </a:p>
          <a:p>
            <a:pPr indent="-342900" lvl="0" marL="457200" rtl="0" algn="l">
              <a:spcBef>
                <a:spcPts val="1200"/>
              </a:spcBef>
              <a:spcAft>
                <a:spcPts val="0"/>
              </a:spcAft>
              <a:buSzPts val="1800"/>
              <a:buChar char="●"/>
            </a:pPr>
            <a:r>
              <a:rPr lang="en"/>
              <a:t>A kickoff meeting</a:t>
            </a:r>
            <a:endParaRPr/>
          </a:p>
          <a:p>
            <a:pPr indent="-342900" lvl="0" marL="457200" rtl="0" algn="l">
              <a:spcBef>
                <a:spcPts val="0"/>
              </a:spcBef>
              <a:spcAft>
                <a:spcPts val="0"/>
              </a:spcAft>
              <a:buSzPts val="1800"/>
              <a:buChar char="●"/>
            </a:pPr>
            <a:r>
              <a:rPr lang="en"/>
              <a:t>Closure meeting</a:t>
            </a:r>
            <a:endParaRPr/>
          </a:p>
          <a:p>
            <a:pPr indent="0" lvl="0" marL="0" rtl="0" algn="l">
              <a:spcBef>
                <a:spcPts val="1200"/>
              </a:spcBef>
              <a:spcAft>
                <a:spcPts val="0"/>
              </a:spcAft>
              <a:buNone/>
            </a:pPr>
            <a:r>
              <a:rPr lang="en"/>
              <a:t>Create a Gantt chart for your project by filling in the Gantt Chart Template provided in the classroom. Export or save the spreadsheet as a .xls or .xlsx file. Add this spreadsheet to your project submission folder.</a:t>
            </a:r>
            <a:endParaRPr/>
          </a:p>
          <a:p>
            <a:pPr indent="0" lvl="0" marL="0" rtl="0" algn="l">
              <a:lnSpc>
                <a:spcPct val="100000"/>
              </a:lnSpc>
              <a:spcBef>
                <a:spcPts val="1200"/>
              </a:spcBef>
              <a:spcAft>
                <a:spcPts val="0"/>
              </a:spcAft>
              <a:buNone/>
            </a:pPr>
            <a:r>
              <a:t/>
            </a:r>
            <a:endParaRPr/>
          </a:p>
          <a:p>
            <a:pPr indent="0" lvl="0" marL="0" rtl="0" algn="l">
              <a:spcBef>
                <a:spcPts val="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Additional Instructions for the</a:t>
            </a:r>
            <a:endParaRPr/>
          </a:p>
          <a:p>
            <a:pPr indent="0" lvl="0" marL="0" rtl="0" algn="l">
              <a:spcBef>
                <a:spcPts val="0"/>
              </a:spcBef>
              <a:spcAft>
                <a:spcPts val="0"/>
              </a:spcAft>
              <a:buNone/>
            </a:pPr>
            <a:r>
              <a:rPr lang="en"/>
              <a:t>Agile </a:t>
            </a:r>
            <a:r>
              <a:rPr lang="en"/>
              <a:t>Project Plan</a:t>
            </a:r>
            <a:endParaRPr/>
          </a:p>
        </p:txBody>
      </p:sp>
      <p:sp>
        <p:nvSpPr>
          <p:cNvPr id="172" name="Google Shape;172;p29"/>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a:t>If you choose an Agile project plan in Step 2, you should </a:t>
            </a:r>
            <a:r>
              <a:rPr b="1" lang="en">
                <a:latin typeface="Open Sans"/>
                <a:ea typeface="Open Sans"/>
                <a:cs typeface="Open Sans"/>
                <a:sym typeface="Open Sans"/>
              </a:rPr>
              <a:t>organize the columns using Scrum phases:</a:t>
            </a:r>
            <a:endParaRPr b="1">
              <a:latin typeface="Open Sans"/>
              <a:ea typeface="Open Sans"/>
              <a:cs typeface="Open Sans"/>
              <a:sym typeface="Open Sans"/>
            </a:endParaRPr>
          </a:p>
          <a:p>
            <a:pPr indent="-342900" lvl="0" marL="457200" rtl="0" algn="l">
              <a:spcBef>
                <a:spcPts val="1200"/>
              </a:spcBef>
              <a:spcAft>
                <a:spcPts val="0"/>
              </a:spcAft>
              <a:buSzPts val="1800"/>
              <a:buChar char="●"/>
            </a:pPr>
            <a:r>
              <a:rPr lang="en"/>
              <a:t>Sprint Planning</a:t>
            </a:r>
            <a:endParaRPr/>
          </a:p>
          <a:p>
            <a:pPr indent="-342900" lvl="0" marL="457200" rtl="0" algn="l">
              <a:spcBef>
                <a:spcPts val="0"/>
              </a:spcBef>
              <a:spcAft>
                <a:spcPts val="0"/>
              </a:spcAft>
              <a:buSzPts val="1800"/>
              <a:buChar char="●"/>
            </a:pPr>
            <a:r>
              <a:rPr lang="en"/>
              <a:t>Backlog</a:t>
            </a:r>
            <a:endParaRPr/>
          </a:p>
          <a:p>
            <a:pPr indent="-342900" lvl="0" marL="457200" rtl="0" algn="l">
              <a:spcBef>
                <a:spcPts val="0"/>
              </a:spcBef>
              <a:spcAft>
                <a:spcPts val="0"/>
              </a:spcAft>
              <a:buSzPts val="1800"/>
              <a:buChar char="●"/>
            </a:pPr>
            <a:r>
              <a:rPr lang="en"/>
              <a:t>Work In Progress</a:t>
            </a:r>
            <a:endParaRPr/>
          </a:p>
          <a:p>
            <a:pPr indent="-342900" lvl="0" marL="457200" rtl="0" algn="l">
              <a:spcBef>
                <a:spcPts val="0"/>
              </a:spcBef>
              <a:spcAft>
                <a:spcPts val="0"/>
              </a:spcAft>
              <a:buSzPts val="1800"/>
              <a:buChar char="●"/>
            </a:pPr>
            <a:r>
              <a:rPr lang="en"/>
              <a:t>QA</a:t>
            </a:r>
            <a:endParaRPr/>
          </a:p>
          <a:p>
            <a:pPr indent="-342900" lvl="0" marL="457200" rtl="0" algn="l">
              <a:spcBef>
                <a:spcPts val="0"/>
              </a:spcBef>
              <a:spcAft>
                <a:spcPts val="0"/>
              </a:spcAft>
              <a:buSzPts val="1800"/>
              <a:buChar char="●"/>
            </a:pPr>
            <a:r>
              <a:rPr lang="en"/>
              <a:t>Release</a:t>
            </a:r>
            <a:endParaRPr/>
          </a:p>
          <a:p>
            <a:pPr indent="-342900" lvl="0" marL="457200" rtl="0" algn="l">
              <a:spcBef>
                <a:spcPts val="0"/>
              </a:spcBef>
              <a:spcAft>
                <a:spcPts val="0"/>
              </a:spcAft>
              <a:buSzPts val="1800"/>
              <a:buChar char="●"/>
            </a:pPr>
            <a:r>
              <a:rPr lang="en"/>
              <a:t>Sprint Review</a:t>
            </a:r>
            <a:endParaRPr/>
          </a:p>
          <a:p>
            <a:pPr indent="0" lvl="0" marL="0" rtl="0" algn="l">
              <a:spcBef>
                <a:spcPts val="1200"/>
              </a:spcBef>
              <a:spcAft>
                <a:spcPts val="0"/>
              </a:spcAft>
              <a:buClr>
                <a:schemeClr val="dk1"/>
              </a:buClr>
              <a:buSzPts val="1100"/>
              <a:buFont typeface="Arial"/>
              <a:buNone/>
            </a:pPr>
            <a:r>
              <a:rPr lang="en"/>
              <a:t>Include relevant tasks that occur in the initial and end phases of a Sprint. You have to include </a:t>
            </a:r>
            <a:r>
              <a:rPr b="1" lang="en">
                <a:latin typeface="Open Sans"/>
                <a:ea typeface="Open Sans"/>
                <a:cs typeface="Open Sans"/>
                <a:sym typeface="Open Sans"/>
              </a:rPr>
              <a:t>at least the following additional tasks:</a:t>
            </a:r>
            <a:endParaRPr b="1">
              <a:latin typeface="Open Sans"/>
              <a:ea typeface="Open Sans"/>
              <a:cs typeface="Open Sans"/>
              <a:sym typeface="Open Sans"/>
            </a:endParaRPr>
          </a:p>
          <a:p>
            <a:pPr indent="-342900" lvl="0" marL="457200" rtl="0" algn="l">
              <a:spcBef>
                <a:spcPts val="1200"/>
              </a:spcBef>
              <a:spcAft>
                <a:spcPts val="0"/>
              </a:spcAft>
              <a:buSzPts val="1800"/>
              <a:buChar char="●"/>
            </a:pPr>
            <a:r>
              <a:rPr lang="en"/>
              <a:t>Sprint planning task for each sprint</a:t>
            </a:r>
            <a:endParaRPr/>
          </a:p>
          <a:p>
            <a:pPr indent="-342900" lvl="0" marL="457200" rtl="0" algn="l">
              <a:spcBef>
                <a:spcPts val="0"/>
              </a:spcBef>
              <a:spcAft>
                <a:spcPts val="0"/>
              </a:spcAft>
              <a:buSzPts val="1800"/>
              <a:buChar char="●"/>
            </a:pPr>
            <a:r>
              <a:rPr lang="en"/>
              <a:t>Sprint review task for each sprint</a:t>
            </a:r>
            <a:endParaRPr/>
          </a:p>
          <a:p>
            <a:pPr indent="0" lvl="0" marL="0" rtl="0" algn="l">
              <a:spcBef>
                <a:spcPts val="120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Additional Instructions for the</a:t>
            </a:r>
            <a:endParaRPr/>
          </a:p>
          <a:p>
            <a:pPr indent="0" lvl="0" marL="0" rtl="0" algn="l">
              <a:spcBef>
                <a:spcPts val="0"/>
              </a:spcBef>
              <a:spcAft>
                <a:spcPts val="0"/>
              </a:spcAft>
              <a:buNone/>
            </a:pPr>
            <a:r>
              <a:rPr lang="en"/>
              <a:t>Agile Project Plan - Trello</a:t>
            </a:r>
            <a:endParaRPr/>
          </a:p>
        </p:txBody>
      </p:sp>
      <p:sp>
        <p:nvSpPr>
          <p:cNvPr id="178" name="Google Shape;178;p30"/>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Pay attention to:</a:t>
            </a:r>
            <a:endParaRPr/>
          </a:p>
          <a:p>
            <a:pPr indent="-342900" lvl="0" marL="457200" rtl="0" algn="l">
              <a:spcBef>
                <a:spcPts val="1600"/>
              </a:spcBef>
              <a:spcAft>
                <a:spcPts val="0"/>
              </a:spcAft>
              <a:buSzPts val="1800"/>
              <a:buChar char="-"/>
            </a:pPr>
            <a:r>
              <a:rPr lang="en"/>
              <a:t>The columns are based on Scrum phases</a:t>
            </a:r>
            <a:endParaRPr/>
          </a:p>
          <a:p>
            <a:pPr indent="-342900" lvl="0" marL="457200" rtl="0" algn="l">
              <a:spcBef>
                <a:spcPts val="0"/>
              </a:spcBef>
              <a:spcAft>
                <a:spcPts val="0"/>
              </a:spcAft>
              <a:buSzPts val="1800"/>
              <a:buChar char="-"/>
            </a:pPr>
            <a:r>
              <a:rPr lang="en"/>
              <a:t>Include relevant tasks to ini</a:t>
            </a:r>
            <a:r>
              <a:rPr lang="en"/>
              <a:t>tial and end phases of a Sprint</a:t>
            </a:r>
            <a:endParaRPr/>
          </a:p>
          <a:p>
            <a:pPr indent="-342900" lvl="0" marL="457200" rtl="0" algn="l">
              <a:spcBef>
                <a:spcPts val="0"/>
              </a:spcBef>
              <a:spcAft>
                <a:spcPts val="0"/>
              </a:spcAft>
              <a:buSzPts val="1800"/>
              <a:buChar char="-"/>
            </a:pPr>
            <a:r>
              <a:rPr lang="en"/>
              <a:t>Label the cards according to the Sprint they belong to (e.g. Sprint 1, Sprint 2…)</a:t>
            </a:r>
            <a:endParaRPr/>
          </a:p>
          <a:p>
            <a:pPr indent="-342900" lvl="0" marL="457200" rtl="0" algn="l">
              <a:spcBef>
                <a:spcPts val="0"/>
              </a:spcBef>
              <a:spcAft>
                <a:spcPts val="0"/>
              </a:spcAft>
              <a:buSzPts val="1800"/>
              <a:buChar char="-"/>
            </a:pPr>
            <a:r>
              <a:rPr lang="en"/>
              <a:t>Don’t forget to add dates to each card</a:t>
            </a:r>
            <a:endParaRPr/>
          </a:p>
          <a:p>
            <a:pPr indent="-342900" lvl="0" marL="457200" rtl="0" algn="l">
              <a:spcBef>
                <a:spcPts val="0"/>
              </a:spcBef>
              <a:spcAft>
                <a:spcPts val="0"/>
              </a:spcAft>
              <a:buSzPts val="1800"/>
              <a:buChar char="-"/>
            </a:pPr>
            <a:r>
              <a:rPr lang="en"/>
              <a:t>Add </a:t>
            </a:r>
            <a:r>
              <a:rPr lang="en"/>
              <a:t>assignees</a:t>
            </a:r>
            <a:r>
              <a:rPr lang="en"/>
              <a:t> to each task</a:t>
            </a:r>
            <a:endParaRPr/>
          </a:p>
          <a:p>
            <a:pPr indent="0" lvl="0" marL="0" rtl="0" algn="ctr">
              <a:spcBef>
                <a:spcPts val="1600"/>
              </a:spcBef>
              <a:spcAft>
                <a:spcPts val="1600"/>
              </a:spcAft>
              <a:buNone/>
            </a:pPr>
            <a:r>
              <a:rPr b="1" lang="en">
                <a:latin typeface="Open Sans"/>
                <a:ea typeface="Open Sans"/>
                <a:cs typeface="Open Sans"/>
                <a:sym typeface="Open Sans"/>
              </a:rPr>
              <a:t>Trello Card Example</a:t>
            </a:r>
            <a:endParaRPr b="1">
              <a:latin typeface="Open Sans"/>
              <a:ea typeface="Open Sans"/>
              <a:cs typeface="Open Sans"/>
              <a:sym typeface="Open Sans"/>
            </a:endParaRPr>
          </a:p>
        </p:txBody>
      </p:sp>
      <p:pic>
        <p:nvPicPr>
          <p:cNvPr id="179" name="Google Shape;179;p30"/>
          <p:cNvPicPr preferRelativeResize="0"/>
          <p:nvPr/>
        </p:nvPicPr>
        <p:blipFill>
          <a:blip r:embed="rId3">
            <a:alphaModFix/>
          </a:blip>
          <a:stretch>
            <a:fillRect/>
          </a:stretch>
        </p:blipFill>
        <p:spPr>
          <a:xfrm>
            <a:off x="3477912" y="5656900"/>
            <a:ext cx="4029575" cy="3440776"/>
          </a:xfrm>
          <a:prstGeom prst="rect">
            <a:avLst/>
          </a:prstGeom>
          <a:noFill/>
          <a:ln>
            <a:noFill/>
          </a:ln>
        </p:spPr>
      </p:pic>
      <p:pic>
        <p:nvPicPr>
          <p:cNvPr id="180" name="Google Shape;180;p30"/>
          <p:cNvPicPr preferRelativeResize="0"/>
          <p:nvPr/>
        </p:nvPicPr>
        <p:blipFill>
          <a:blip r:embed="rId4">
            <a:alphaModFix/>
          </a:blip>
          <a:stretch>
            <a:fillRect/>
          </a:stretch>
        </p:blipFill>
        <p:spPr>
          <a:xfrm>
            <a:off x="264938" y="6441563"/>
            <a:ext cx="2600325" cy="13049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Additional Instructions for the</a:t>
            </a:r>
            <a:endParaRPr>
              <a:solidFill>
                <a:srgbClr val="2E3D49"/>
              </a:solidFill>
            </a:endParaRPr>
          </a:p>
          <a:p>
            <a:pPr indent="0" lvl="0" marL="0" rtl="0" algn="l">
              <a:spcBef>
                <a:spcPts val="0"/>
              </a:spcBef>
              <a:spcAft>
                <a:spcPts val="0"/>
              </a:spcAft>
              <a:buNone/>
            </a:pPr>
            <a:r>
              <a:rPr lang="en"/>
              <a:t>Agile Project Plan</a:t>
            </a:r>
            <a:endParaRPr/>
          </a:p>
        </p:txBody>
      </p:sp>
      <p:sp>
        <p:nvSpPr>
          <p:cNvPr id="186" name="Google Shape;186;p31"/>
          <p:cNvSpPr txBox="1"/>
          <p:nvPr>
            <p:ph idx="1" type="body"/>
          </p:nvPr>
        </p:nvSpPr>
        <p:spPr>
          <a:xfrm>
            <a:off x="264950" y="2253728"/>
            <a:ext cx="7242600" cy="201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Light"/>
                <a:ea typeface="Open Sans Light"/>
                <a:cs typeface="Open Sans Light"/>
                <a:sym typeface="Open Sans Light"/>
              </a:rPr>
              <a:t>Create a new Scrum board on </a:t>
            </a:r>
            <a:r>
              <a:rPr lang="en">
                <a:uFill>
                  <a:noFill/>
                </a:uFill>
                <a:latin typeface="Open Sans Light"/>
                <a:ea typeface="Open Sans Light"/>
                <a:cs typeface="Open Sans Light"/>
                <a:sym typeface="Open Sans Light"/>
                <a:hlinkClick r:id="rId3"/>
              </a:rPr>
              <a:t>Trello </a:t>
            </a:r>
            <a:r>
              <a:rPr lang="en">
                <a:latin typeface="Open Sans Light"/>
                <a:ea typeface="Open Sans Light"/>
                <a:cs typeface="Open Sans Light"/>
                <a:sym typeface="Open Sans Light"/>
              </a:rPr>
              <a:t>and make it public. </a:t>
            </a:r>
            <a:endParaRPr>
              <a:latin typeface="Open Sans Light"/>
              <a:ea typeface="Open Sans Light"/>
              <a:cs typeface="Open Sans Light"/>
              <a:sym typeface="Open Sans Light"/>
            </a:endParaRPr>
          </a:p>
          <a:p>
            <a:pPr indent="-298450" lvl="0" marL="457200" rtl="0" algn="l">
              <a:spcBef>
                <a:spcPts val="0"/>
              </a:spcBef>
              <a:spcAft>
                <a:spcPts val="0"/>
              </a:spcAft>
              <a:buClr>
                <a:srgbClr val="0E101A"/>
              </a:buClr>
              <a:buSzPts val="1100"/>
              <a:buFont typeface="Arial"/>
              <a:buChar char="●"/>
            </a:pPr>
            <a:r>
              <a:rPr lang="en">
                <a:latin typeface="Open Sans Light"/>
                <a:ea typeface="Open Sans Light"/>
                <a:cs typeface="Open Sans Light"/>
                <a:sym typeface="Open Sans Light"/>
              </a:rPr>
              <a:t>To make your board public, click on the Change Visibility icon and select Public &gt; “Yes, make board public”</a:t>
            </a:r>
            <a:endParaRPr>
              <a:latin typeface="Open Sans Light"/>
              <a:ea typeface="Open Sans Light"/>
              <a:cs typeface="Open Sans Light"/>
              <a:sym typeface="Open Sans Light"/>
            </a:endParaRPr>
          </a:p>
          <a:p>
            <a:pPr indent="-298450" lvl="0" marL="457200" rtl="0" algn="l">
              <a:spcBef>
                <a:spcPts val="0"/>
              </a:spcBef>
              <a:spcAft>
                <a:spcPts val="0"/>
              </a:spcAft>
              <a:buClr>
                <a:srgbClr val="0E101A"/>
              </a:buClr>
              <a:buSzPts val="1100"/>
              <a:buFont typeface="Arial"/>
              <a:buChar char="●"/>
            </a:pPr>
            <a:r>
              <a:rPr lang="en">
                <a:latin typeface="Open Sans Light"/>
                <a:ea typeface="Open Sans Light"/>
                <a:cs typeface="Open Sans Light"/>
                <a:sym typeface="Open Sans Light"/>
              </a:rPr>
              <a:t>Copy the URL from your browser - it is the same as you are viewing the board with</a:t>
            </a:r>
            <a:endParaRPr>
              <a:latin typeface="Open Sans Light"/>
              <a:ea typeface="Open Sans Light"/>
              <a:cs typeface="Open Sans Light"/>
              <a:sym typeface="Open Sans Light"/>
            </a:endParaRPr>
          </a:p>
          <a:p>
            <a:pPr indent="0" lvl="0" marL="0" rtl="0" algn="l">
              <a:spcBef>
                <a:spcPts val="0"/>
              </a:spcBef>
              <a:spcAft>
                <a:spcPts val="1600"/>
              </a:spcAft>
              <a:buNone/>
            </a:pPr>
            <a:r>
              <a:t/>
            </a:r>
            <a:endParaRPr/>
          </a:p>
        </p:txBody>
      </p:sp>
      <p:sp>
        <p:nvSpPr>
          <p:cNvPr id="187" name="Google Shape;187;p31"/>
          <p:cNvSpPr txBox="1"/>
          <p:nvPr/>
        </p:nvSpPr>
        <p:spPr>
          <a:xfrm>
            <a:off x="264950" y="4403650"/>
            <a:ext cx="7242600" cy="560400"/>
          </a:xfrm>
          <a:prstGeom prst="rect">
            <a:avLst/>
          </a:prstGeom>
          <a:solidFill>
            <a:srgbClr val="F3F3F3"/>
          </a:solid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sz="1300" b="1">
                <a:solidFill>
                  <a:srgbClr val="164E63"/>
                </a:solidFill>
                <a:latin typeface="Arial"/>
              </a:rPr>
              <a:t>N/A - Waterfall methodology selected. Completed Gantt chart is attached as yosemite_stefano_gantt_chart.xlsx.</a:t>
            </a:r>
            <a:endParaRPr sz="2000">
              <a:solidFill>
                <a:schemeClr val="dk1"/>
              </a:solidFill>
              <a:latin typeface="Open Sans"/>
              <a:ea typeface="Open Sans"/>
              <a:cs typeface="Open Sans"/>
              <a:sym typeface="Open Sans"/>
            </a:endParaRPr>
          </a:p>
        </p:txBody>
      </p:sp>
      <p:sp>
        <p:nvSpPr>
          <p:cNvPr id="188" name="Google Shape;188;p31"/>
          <p:cNvSpPr txBox="1"/>
          <p:nvPr>
            <p:ph idx="1" type="body"/>
          </p:nvPr>
        </p:nvSpPr>
        <p:spPr>
          <a:xfrm>
            <a:off x="264950" y="5178451"/>
            <a:ext cx="7242600" cy="123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Open Sans Light"/>
                <a:ea typeface="Open Sans Light"/>
                <a:cs typeface="Open Sans Light"/>
                <a:sym typeface="Open Sans Light"/>
              </a:rPr>
              <a:t>To test your link, paste your link into an incognito browser window and open it. If it opens your board directly, your link is good.</a:t>
            </a:r>
            <a:endParaRPr>
              <a:latin typeface="Open Sans Light"/>
              <a:ea typeface="Open Sans Light"/>
              <a:cs typeface="Open Sans Light"/>
              <a:sym typeface="Open Sans Light"/>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189" name="Google Shape;189;p31"/>
          <p:cNvPicPr preferRelativeResize="0"/>
          <p:nvPr/>
        </p:nvPicPr>
        <p:blipFill>
          <a:blip r:embed="rId4">
            <a:alphaModFix/>
          </a:blip>
          <a:stretch>
            <a:fillRect/>
          </a:stretch>
        </p:blipFill>
        <p:spPr>
          <a:xfrm>
            <a:off x="1095413" y="6351701"/>
            <a:ext cx="5581674" cy="334184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type="title"/>
          </p:nvPr>
        </p:nvSpPr>
        <p:spPr>
          <a:xfrm>
            <a:off x="264900" y="2160200"/>
            <a:ext cx="7242600" cy="255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Step Four:</a:t>
            </a:r>
            <a:endParaRPr/>
          </a:p>
          <a:p>
            <a:pPr indent="0" lvl="0" marL="0" rtl="0" algn="l">
              <a:spcBef>
                <a:spcPts val="0"/>
              </a:spcBef>
              <a:spcAft>
                <a:spcPts val="0"/>
              </a:spcAft>
              <a:buNone/>
            </a:pPr>
            <a:r>
              <a:rPr lang="en"/>
              <a:t>Risk and Response</a:t>
            </a:r>
            <a:endParaRPr/>
          </a:p>
        </p:txBody>
      </p:sp>
      <p:sp>
        <p:nvSpPr>
          <p:cNvPr id="195" name="Google Shape;195;p32"/>
          <p:cNvSpPr txBox="1"/>
          <p:nvPr>
            <p:ph idx="4294967295"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Digital Project Management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Risk Response Strategies</a:t>
            </a:r>
            <a:endParaRPr/>
          </a:p>
        </p:txBody>
      </p:sp>
      <p:sp>
        <p:nvSpPr>
          <p:cNvPr id="201" name="Google Shape;201;p33"/>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are the six types of response strategies you can choose from:</a:t>
            </a:r>
            <a:endParaRPr/>
          </a:p>
          <a:p>
            <a:pPr indent="-342900" lvl="0" marL="457200" rtl="0" algn="l">
              <a:spcBef>
                <a:spcPts val="0"/>
              </a:spcBef>
              <a:spcAft>
                <a:spcPts val="0"/>
              </a:spcAft>
              <a:buSzPts val="1800"/>
              <a:buFont typeface="Open Sans"/>
              <a:buChar char="●"/>
            </a:pPr>
            <a:r>
              <a:rPr b="1" lang="en">
                <a:latin typeface="Open Sans"/>
                <a:ea typeface="Open Sans"/>
                <a:cs typeface="Open Sans"/>
                <a:sym typeface="Open Sans"/>
              </a:rPr>
              <a:t>Avoid </a:t>
            </a:r>
            <a:r>
              <a:rPr lang="en"/>
              <a:t>relates to adjusting plans so it prevents the risk from ever happening to or having an impact on your project. This strategy essentially makes the risk irrelevant to your project.</a:t>
            </a:r>
            <a:endParaRPr/>
          </a:p>
          <a:p>
            <a:pPr indent="-342900" lvl="0" marL="457200" rtl="0" algn="l">
              <a:spcBef>
                <a:spcPts val="0"/>
              </a:spcBef>
              <a:spcAft>
                <a:spcPts val="0"/>
              </a:spcAft>
              <a:buSzPts val="1800"/>
              <a:buFont typeface="Open Sans"/>
              <a:buChar char="●"/>
            </a:pPr>
            <a:r>
              <a:rPr b="1" lang="en">
                <a:latin typeface="Open Sans"/>
                <a:ea typeface="Open Sans"/>
                <a:cs typeface="Open Sans"/>
                <a:sym typeface="Open Sans"/>
              </a:rPr>
              <a:t>Transfer </a:t>
            </a:r>
            <a:r>
              <a:rPr lang="en"/>
              <a:t>is the act of moving the risk to a different recipient by adding into the project plan a way to direct the risk in a certain direction.</a:t>
            </a:r>
            <a:endParaRPr/>
          </a:p>
          <a:p>
            <a:pPr indent="-342900" lvl="0" marL="457200" rtl="0" algn="l">
              <a:spcBef>
                <a:spcPts val="0"/>
              </a:spcBef>
              <a:spcAft>
                <a:spcPts val="0"/>
              </a:spcAft>
              <a:buSzPts val="1800"/>
              <a:buFont typeface="Open Sans"/>
              <a:buChar char="●"/>
            </a:pPr>
            <a:r>
              <a:rPr b="1" lang="en">
                <a:latin typeface="Open Sans"/>
                <a:ea typeface="Open Sans"/>
                <a:cs typeface="Open Sans"/>
                <a:sym typeface="Open Sans"/>
              </a:rPr>
              <a:t>Mitigate </a:t>
            </a:r>
            <a:r>
              <a:rPr lang="en"/>
              <a:t>relates to proactively adjusting plans or acquiring new resources to lessen the potential consequences as much as possible or preparing for the impact of the risk.</a:t>
            </a:r>
            <a:endParaRPr/>
          </a:p>
          <a:p>
            <a:pPr indent="-342900" lvl="0" marL="457200" rtl="0" algn="l">
              <a:spcBef>
                <a:spcPts val="0"/>
              </a:spcBef>
              <a:spcAft>
                <a:spcPts val="0"/>
              </a:spcAft>
              <a:buSzPts val="1800"/>
              <a:buFont typeface="Open Sans"/>
              <a:buChar char="●"/>
            </a:pPr>
            <a:r>
              <a:rPr b="1" lang="en">
                <a:latin typeface="Open Sans"/>
                <a:ea typeface="Open Sans"/>
                <a:cs typeface="Open Sans"/>
                <a:sym typeface="Open Sans"/>
              </a:rPr>
              <a:t>Accept </a:t>
            </a:r>
            <a:r>
              <a:rPr lang="en"/>
              <a:t>involves passively acknowledging that it will happen, or creating thresholds that trigger actions when the risk causes a certain type or level of problem.</a:t>
            </a:r>
            <a:endParaRPr/>
          </a:p>
          <a:p>
            <a:pPr indent="-342900" lvl="0" marL="457200" rtl="0" algn="l">
              <a:spcBef>
                <a:spcPts val="0"/>
              </a:spcBef>
              <a:spcAft>
                <a:spcPts val="0"/>
              </a:spcAft>
              <a:buSzPts val="1800"/>
              <a:buFont typeface="Open Sans"/>
              <a:buChar char="●"/>
            </a:pPr>
            <a:r>
              <a:rPr b="1" lang="en">
                <a:latin typeface="Open Sans"/>
                <a:ea typeface="Open Sans"/>
                <a:cs typeface="Open Sans"/>
                <a:sym typeface="Open Sans"/>
              </a:rPr>
              <a:t>Escalate </a:t>
            </a:r>
            <a:r>
              <a:rPr lang="en"/>
              <a:t>is the act of presenting the risk to someone with the right authority or skillset to properly respond. In this case, the digital project manager cannot sufficiently do so.</a:t>
            </a:r>
            <a:endParaRPr/>
          </a:p>
          <a:p>
            <a:pPr indent="-342900" lvl="0" marL="457200" rtl="0" algn="l">
              <a:spcBef>
                <a:spcPts val="0"/>
              </a:spcBef>
              <a:spcAft>
                <a:spcPts val="0"/>
              </a:spcAft>
              <a:buSzPts val="1800"/>
              <a:buFont typeface="Open Sans"/>
              <a:buChar char="●"/>
            </a:pPr>
            <a:r>
              <a:rPr b="1" lang="en">
                <a:latin typeface="Open Sans"/>
                <a:ea typeface="Open Sans"/>
                <a:cs typeface="Open Sans"/>
                <a:sym typeface="Open Sans"/>
              </a:rPr>
              <a:t>Exploit </a:t>
            </a:r>
            <a:r>
              <a:rPr lang="en"/>
              <a:t>involves creating an opportunity or solution out of a risk to take advantage of a problem's impact.</a:t>
            </a:r>
            <a:endParaRPr/>
          </a:p>
          <a:p>
            <a:pPr indent="0" lvl="0" marL="0" rtl="0" algn="l">
              <a:spcBef>
                <a:spcPts val="0"/>
              </a:spcBef>
              <a:spcAft>
                <a:spcPts val="16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4"/>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Risk Scenario 1</a:t>
            </a:r>
            <a:endParaRPr/>
          </a:p>
        </p:txBody>
      </p:sp>
      <p:sp>
        <p:nvSpPr>
          <p:cNvPr id="207" name="Google Shape;207;p34"/>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Stefano Shop project relies on the customer providing Yosemite with information on all products in its inventory. </a:t>
            </a:r>
            <a:r>
              <a:rPr b="1" lang="en">
                <a:latin typeface="Open Sans"/>
                <a:ea typeface="Open Sans"/>
                <a:cs typeface="Open Sans"/>
                <a:sym typeface="Open Sans"/>
              </a:rPr>
              <a:t>The Stefanos did not deliver the inventory list by the day you planned</a:t>
            </a:r>
            <a:r>
              <a:rPr lang="en"/>
              <a:t> to put inventory data into the system. They promised to deliver the inventory information in a few more days.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Open Sans"/>
                <a:ea typeface="Open Sans"/>
                <a:cs typeface="Open Sans"/>
                <a:sym typeface="Open Sans"/>
              </a:rPr>
              <a:t>Your task is to:</a:t>
            </a:r>
            <a:endParaRPr b="1">
              <a:latin typeface="Open Sans"/>
              <a:ea typeface="Open Sans"/>
              <a:cs typeface="Open Sans"/>
              <a:sym typeface="Open Sans"/>
            </a:endParaRPr>
          </a:p>
          <a:p>
            <a:pPr indent="-298450" lvl="0" marL="457200" rtl="0" algn="l">
              <a:spcBef>
                <a:spcPts val="0"/>
              </a:spcBef>
              <a:spcAft>
                <a:spcPts val="0"/>
              </a:spcAft>
              <a:buClr>
                <a:srgbClr val="0E101A"/>
              </a:buClr>
              <a:buSzPts val="1100"/>
              <a:buFont typeface="Arial"/>
              <a:buChar char="●"/>
            </a:pPr>
            <a:r>
              <a:rPr lang="en"/>
              <a:t>Analyze the above risk and describe how this affects the project. Address at least two different critical points of risk, like scope, cost, schedule, quality, stakeholder relationships, etc.</a:t>
            </a:r>
            <a:endParaRPr/>
          </a:p>
          <a:p>
            <a:pPr indent="-298450" lvl="0" marL="457200" rtl="0" algn="l">
              <a:spcBef>
                <a:spcPts val="0"/>
              </a:spcBef>
              <a:spcAft>
                <a:spcPts val="0"/>
              </a:spcAft>
              <a:buClr>
                <a:srgbClr val="0E101A"/>
              </a:buClr>
              <a:buSzPts val="1100"/>
              <a:buFont typeface="Arial"/>
              <a:buChar char="●"/>
            </a:pPr>
            <a:r>
              <a:rPr lang="en"/>
              <a:t>Choose a risk response strategy (see the valid strategies on the "Response Strategies" slide.)</a:t>
            </a:r>
            <a:endParaRPr/>
          </a:p>
          <a:p>
            <a:pPr indent="-298450" lvl="0" marL="457200" rtl="0" algn="l">
              <a:spcBef>
                <a:spcPts val="0"/>
              </a:spcBef>
              <a:spcAft>
                <a:spcPts val="0"/>
              </a:spcAft>
              <a:buClr>
                <a:srgbClr val="0E101A"/>
              </a:buClr>
              <a:buSzPts val="1100"/>
              <a:buFont typeface="Arial"/>
              <a:buChar char="●"/>
            </a:pPr>
            <a:r>
              <a:rPr lang="en"/>
              <a:t>Explain how you would apply the strategy in 3-5 sentences, including how it would impact the customer.</a:t>
            </a:r>
            <a:endParaRPr/>
          </a:p>
          <a:p>
            <a:pPr indent="-298450" lvl="0" marL="457200" rtl="0" algn="l">
              <a:spcBef>
                <a:spcPts val="0"/>
              </a:spcBef>
              <a:spcAft>
                <a:spcPts val="0"/>
              </a:spcAft>
              <a:buClr>
                <a:srgbClr val="0E101A"/>
              </a:buClr>
              <a:buSzPts val="1100"/>
              <a:buFont typeface="Arial"/>
              <a:buChar char="●"/>
            </a:pPr>
            <a:r>
              <a:rPr lang="en"/>
              <a:t>Fill out the Status Report for this scenario</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Clr>
                <a:schemeClr val="dk1"/>
              </a:buClr>
              <a:buSzPts val="1100"/>
              <a:buFont typeface="Arial"/>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5"/>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Risk Scenario 1 Response</a:t>
            </a:r>
            <a:endParaRPr/>
          </a:p>
        </p:txBody>
      </p:sp>
      <p:graphicFrame>
        <p:nvGraphicFramePr>
          <p:cNvPr id="213" name="Google Shape;213;p35"/>
          <p:cNvGraphicFramePr/>
          <p:nvPr/>
        </p:nvGraphicFramePr>
        <p:xfrm>
          <a:off x="264900" y="2253750"/>
          <a:ext cx="3000000" cy="3000000"/>
        </p:xfrm>
        <a:graphic>
          <a:graphicData uri="http://schemas.openxmlformats.org/drawingml/2006/table">
            <a:tbl>
              <a:tblPr>
                <a:noFill/>
                <a:tableStyleId>{C82BA829-6A89-494B-93C7-34DF5BC7DE1F}</a:tableStyleId>
              </a:tblPr>
              <a:tblGrid>
                <a:gridCol w="3621300"/>
                <a:gridCol w="3621300"/>
              </a:tblGrid>
              <a:tr h="356750">
                <a:tc gridSpan="2">
                  <a:txBody>
                    <a:bodyPr wrap="square">
                      <a:normAutofit/>
                    </a:bodyPr>
                    <a:lstStyle/>
                    <a:p>
                      <a:pPr indent="0" lvl="0" marL="0" rtl="0" algn="l">
                        <a:lnSpc>
                          <a:spcPct val="115000"/>
                        </a:lnSpc>
                        <a:spcBef>
                          <a:spcPts val="0"/>
                        </a:spcBef>
                        <a:spcAft>
                          <a:spcPts val="0"/>
                        </a:spcAft>
                        <a:buNone/>
                      </a:pPr>
                      <a:r>
                        <a:rPr sz="1000" b="1">
                          <a:solidFill>
                            <a:srgbClr val="000000"/>
                          </a:solidFill>
                          <a:latin typeface="Arial"/>
                        </a:rPr>
                        <a:t>How might this risk affect the project?</a:t>
                      </a:r>
                      <a:endParaRPr sz="1800">
                        <a:solidFill>
                          <a:srgbClr val="525C65"/>
                        </a:solidFill>
                        <a:latin typeface="Open Sans"/>
                        <a:ea typeface="Open Sans"/>
                        <a:cs typeface="Open Sans"/>
                        <a:sym typeface="Open Sans"/>
                      </a:endParaRPr>
                    </a:p>
                  </a:txBody>
                  <a:tcPr marT="25400" marB="25400" marR="50800" marL="508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0F2FE"/>
                    </a:solidFill>
                  </a:tcPr>
                </a:tc>
                <a:tc hMerge="1">
                  <a:txBody>
                    <a:bodyPr wrap="square">
                      <a:normAutofit/>
                    </a:bodyPr>
                    <a:p/>
                  </a:txBody>
                  <a:tcPr marL="50800" marR="50800" marT="25400" marB="25400">
                    <a:solidFill>
                      <a:srgbClr val="E0F2FE"/>
                    </a:solidFill>
                  </a:tcPr>
                </a:tc>
              </a:tr>
              <a:tr h="2424825">
                <a:tc gridSpan="2">
                  <a:txBody>
                    <a:bodyPr wrap="square">
                      <a:normAutofit/>
                    </a:bodyPr>
                    <a:lstStyle/>
                    <a:p>
                      <a:pPr indent="0" lvl="0" marL="0" rtl="0" algn="l">
                        <a:spcBef>
                          <a:spcPts val="0"/>
                        </a:spcBef>
                        <a:spcAft>
                          <a:spcPts val="0"/>
                        </a:spcAft>
                        <a:buNone/>
                      </a:pPr>
                      <a:r>
                        <a:rPr sz="840" b="0">
                          <a:solidFill>
                            <a:srgbClr val="000000"/>
                          </a:solidFill>
                          <a:latin typeface="Arial"/>
                        </a:rPr>
                        <a:t>The missing inventory list creates a schedule risk because Moe cannot start inputting inventory data on June 22 as planned. It can also affect quality if Yosemite rushes data entry later and uploads incomplete or incorrect product information. Stakeholder trust may be affected because Mama is focused on timing and Papa is wary of surprises, even if the scope and budget remain unchanged.</a:t>
                      </a:r>
                      <a:endParaRPr sz="1800">
                        <a:solidFill>
                          <a:srgbClr val="525C65"/>
                        </a:solidFill>
                        <a:latin typeface="Open Sans"/>
                        <a:ea typeface="Open Sans"/>
                        <a:cs typeface="Open Sans"/>
                        <a:sym typeface="Open Sans"/>
                      </a:endParaRPr>
                    </a:p>
                  </a:txBody>
                  <a:tcPr marT="25400" marB="25400" marR="50800" marL="508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hMerge="1">
                  <a:txBody>
                    <a:bodyPr wrap="square">
                      <a:normAutofit/>
                    </a:bodyPr>
                    <a:p/>
                  </a:txBody>
                  <a:tcPr marL="50800" marR="50800" marT="38100" marB="38100"/>
                </a:tc>
              </a:tr>
              <a:tr h="246650">
                <a:tc>
                  <a:txBody>
                    <a:bodyPr wrap="square">
                      <a:normAutofit/>
                    </a:bodyPr>
                    <a:lstStyle/>
                    <a:p>
                      <a:pPr indent="0" lvl="0" marL="0" rtl="0" algn="l">
                        <a:lnSpc>
                          <a:spcPct val="115000"/>
                        </a:lnSpc>
                        <a:spcBef>
                          <a:spcPts val="0"/>
                        </a:spcBef>
                        <a:spcAft>
                          <a:spcPts val="0"/>
                        </a:spcAft>
                        <a:buNone/>
                      </a:pPr>
                      <a:r>
                        <a:rPr sz="1000" b="1">
                          <a:solidFill>
                            <a:srgbClr val="000000"/>
                          </a:solidFill>
                          <a:latin typeface="Arial"/>
                        </a:rPr>
                        <a:t>Selected risk response strategy:</a:t>
                      </a:r>
                      <a:endParaRPr sz="1800">
                        <a:solidFill>
                          <a:srgbClr val="525C65"/>
                        </a:solidFill>
                        <a:latin typeface="Open Sans"/>
                        <a:ea typeface="Open Sans"/>
                        <a:cs typeface="Open Sans"/>
                        <a:sym typeface="Open Sans"/>
                      </a:endParaRPr>
                    </a:p>
                  </a:txBody>
                  <a:tcPr marT="25400" marB="25400" marR="50800" marL="508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0F2FE"/>
                    </a:solidFill>
                  </a:tcPr>
                </a:tc>
                <a:tc>
                  <a:txBody>
                    <a:bodyPr wrap="square">
                      <a:normAutofit/>
                    </a:bodyPr>
                    <a:lstStyle/>
                    <a:p>
                      <a:pPr indent="0" lvl="0" marL="0" rtl="0" algn="ctr">
                        <a:lnSpc>
                          <a:spcPct val="115000"/>
                        </a:lnSpc>
                        <a:spcBef>
                          <a:spcPts val="0"/>
                        </a:spcBef>
                        <a:spcAft>
                          <a:spcPts val="0"/>
                        </a:spcAft>
                        <a:buClr>
                          <a:schemeClr val="dk1"/>
                        </a:buClr>
                        <a:buSzPts val="1100"/>
                        <a:buFont typeface="Arial"/>
                        <a:buNone/>
                      </a:pPr>
                      <a:r>
                        <a:rPr sz="1000" b="1">
                          <a:solidFill>
                            <a:srgbClr val="000000"/>
                          </a:solidFill>
                          <a:latin typeface="Arial"/>
                        </a:rPr>
                        <a:t>Mitigate</a:t>
                      </a:r>
                      <a:endParaRPr sz="1800">
                        <a:solidFill>
                          <a:srgbClr val="525C65"/>
                        </a:solidFill>
                        <a:latin typeface="Open Sans"/>
                        <a:ea typeface="Open Sans"/>
                        <a:cs typeface="Open Sans"/>
                        <a:sym typeface="Open Sans"/>
                      </a:endParaRPr>
                    </a:p>
                  </a:txBody>
                  <a:tcPr marT="25400" marB="25400" marR="50800" marL="508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26650">
                <a:tc gridSpan="2">
                  <a:txBody>
                    <a:bodyPr wrap="square">
                      <a:normAutofit/>
                    </a:bodyPr>
                    <a:lstStyle/>
                    <a:p>
                      <a:pPr indent="0" lvl="0" marL="0" rtl="0" algn="l">
                        <a:spcBef>
                          <a:spcPts val="0"/>
                        </a:spcBef>
                        <a:spcAft>
                          <a:spcPts val="0"/>
                        </a:spcAft>
                        <a:buNone/>
                      </a:pPr>
                      <a:r>
                        <a:rPr sz="1000" b="1">
                          <a:solidFill>
                            <a:srgbClr val="000000"/>
                          </a:solidFill>
                          <a:latin typeface="Arial"/>
                        </a:rPr>
                        <a:t>Explain below how you would apply the strategy.</a:t>
                      </a:r>
                      <a:endParaRPr i="1" sz="1800">
                        <a:solidFill>
                          <a:srgbClr val="525C65"/>
                        </a:solidFill>
                        <a:latin typeface="Open Sans Light"/>
                        <a:ea typeface="Open Sans Light"/>
                        <a:cs typeface="Open Sans Light"/>
                        <a:sym typeface="Open Sans Light"/>
                      </a:endParaRPr>
                    </a:p>
                  </a:txBody>
                  <a:tcPr marT="25400" marB="25400" marR="50800" marL="508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0F2FE"/>
                    </a:solidFill>
                  </a:tcPr>
                </a:tc>
                <a:tc hMerge="1">
                  <a:txBody>
                    <a:bodyPr wrap="square">
                      <a:normAutofit/>
                    </a:bodyPr>
                    <a:p/>
                  </a:txBody>
                  <a:tcPr marL="50800" marR="50800" marT="25400" marB="25400">
                    <a:solidFill>
                      <a:srgbClr val="E0F2FE"/>
                    </a:solidFill>
                  </a:tcPr>
                </a:tc>
              </a:tr>
              <a:tr h="1927425">
                <a:tc gridSpan="2">
                  <a:txBody>
                    <a:bodyPr wrap="square">
                      <a:normAutofit/>
                    </a:bodyPr>
                    <a:lstStyle/>
                    <a:p>
                      <a:pPr indent="0" lvl="0" marL="0" rtl="0" algn="l">
                        <a:spcBef>
                          <a:spcPts val="0"/>
                        </a:spcBef>
                        <a:spcAft>
                          <a:spcPts val="0"/>
                        </a:spcAft>
                        <a:buNone/>
                      </a:pPr>
                      <a:r>
                        <a:rPr sz="810" b="0">
                          <a:solidFill>
                            <a:srgbClr val="000000"/>
                          </a:solidFill>
                          <a:latin typeface="Arial"/>
                        </a:rPr>
                        <a:t>I would confirm a revised delivery date for the inventory list with Mama and Papa Stefano, then ask for a partial spreadsheet or priority product list so Moe can begin with the most important items. While waiting, Moe can work on the user manual and prepare the import template to reduce lost time. I would notify Lou and the Stefanos that the overall launch is still recoverable if the list arrives within a few days, but the schedule is at risk. The customer impact is mainly faster follow-up and a possible shift in later tasks, with no added cost unless the delay grows beyond the project buffer.</a:t>
                      </a:r>
                      <a:endParaRPr sz="1800">
                        <a:solidFill>
                          <a:srgbClr val="525C65"/>
                        </a:solidFill>
                        <a:latin typeface="Open Sans"/>
                        <a:ea typeface="Open Sans"/>
                        <a:cs typeface="Open Sans"/>
                        <a:sym typeface="Open Sans"/>
                      </a:endParaRPr>
                    </a:p>
                  </a:txBody>
                  <a:tcPr marT="25400" marB="25400" marR="50800" marL="508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hMerge="1">
                  <a:txBody>
                    <a:bodyPr wrap="square">
                      <a:normAutofit/>
                    </a:bodyPr>
                    <a:p/>
                  </a:txBody>
                  <a:tcPr marL="50800" marR="50800" marT="38100" marB="38100"/>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6"/>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Status Report</a:t>
            </a:r>
            <a:endParaRPr/>
          </a:p>
        </p:txBody>
      </p:sp>
      <p:sp>
        <p:nvSpPr>
          <p:cNvPr id="219" name="Google Shape;219;p36"/>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latin typeface="Open Sans"/>
                <a:ea typeface="Open Sans"/>
                <a:cs typeface="Open Sans"/>
                <a:sym typeface="Open Sans"/>
              </a:rPr>
              <a:t>You need to fill out the status report on the next page</a:t>
            </a:r>
            <a:r>
              <a:rPr lang="en"/>
              <a:t>. It has to be based on Risk Scenario 1, which you can find in Slide 28. You also need to use details from the project scenario, which you can find in Slide 3.</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The Status Report date is when the Vendor Manager was scheduled to begin the “Input Inventory Data” task in your project plan.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7"/>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Risk Scenario 1 - Status Report</a:t>
            </a:r>
            <a:endParaRPr/>
          </a:p>
        </p:txBody>
      </p:sp>
      <p:graphicFrame>
        <p:nvGraphicFramePr>
          <p:cNvPr id="225" name="Google Shape;225;p37"/>
          <p:cNvGraphicFramePr/>
          <p:nvPr/>
        </p:nvGraphicFramePr>
        <p:xfrm>
          <a:off x="264950" y="6648550"/>
          <a:ext cx="3000000" cy="3000000"/>
        </p:xfrm>
        <a:graphic>
          <a:graphicData uri="http://schemas.openxmlformats.org/drawingml/2006/table">
            <a:tbl>
              <a:tblPr>
                <a:noFill/>
                <a:tableStyleId>{C82BA829-6A89-494B-93C7-34DF5BC7DE1F}</a:tableStyleId>
              </a:tblPr>
              <a:tblGrid>
                <a:gridCol w="892925"/>
                <a:gridCol w="1153150"/>
                <a:gridCol w="5196525"/>
              </a:tblGrid>
              <a:tr h="381000">
                <a:tc gridSpan="3">
                  <a:txBody>
                    <a:bodyPr wrap="square">
                      <a:normAutofit/>
                    </a:bodyPr>
                    <a:lstStyle/>
                    <a:p>
                      <a:pPr indent="0" lvl="0" marL="0" rtl="0" algn="ctr">
                        <a:spcBef>
                          <a:spcPts val="0"/>
                        </a:spcBef>
                        <a:spcAft>
                          <a:spcPts val="0"/>
                        </a:spcAft>
                        <a:buNone/>
                      </a:pPr>
                      <a:r>
                        <a:rPr sz="1050" b="1">
                          <a:solidFill>
                            <a:srgbClr val="FFFFFF"/>
                          </a:solidFill>
                          <a:latin typeface="Arial"/>
                        </a:rPr>
                        <a:t>Project Health Check</a:t>
                      </a:r>
                      <a:endParaRPr b="1">
                        <a:solidFill>
                          <a:schemeClr val="lt1"/>
                        </a:solidFill>
                        <a:latin typeface="Open Sans"/>
                        <a:ea typeface="Open Sans"/>
                        <a:cs typeface="Open Sans"/>
                        <a:sym typeface="Open Sans"/>
                      </a:endParaRPr>
                    </a:p>
                  </a:txBody>
                  <a:tcPr marT="38100" marB="38100" marR="50800" marL="50800">
                    <a:solidFill>
                      <a:srgbClr val="00A6C8"/>
                    </a:solidFill>
                  </a:tcPr>
                </a:tc>
                <a:tc hMerge="1">
                  <a:txBody>
                    <a:bodyPr wrap="square">
                      <a:normAutofit/>
                    </a:bodyPr>
                    <a:p>
                      <a:pPr algn="ctr"/>
                    </a:p>
                  </a:txBody>
                  <a:tcPr marL="50800" marR="50800" marT="38100" marB="38100">
                    <a:solidFill>
                      <a:srgbClr val="00A6C8"/>
                    </a:solidFill>
                  </a:tcPr>
                </a:tc>
                <a:tc hMerge="1">
                  <a:txBody>
                    <a:bodyPr wrap="square">
                      <a:normAutofit/>
                    </a:bodyPr>
                    <a:p>
                      <a:pPr algn="ctr"/>
                    </a:p>
                  </a:txBody>
                  <a:tcPr marL="50800" marR="50800" marT="38100" marB="38100">
                    <a:solidFill>
                      <a:srgbClr val="00A6C8"/>
                    </a:solidFill>
                  </a:tcPr>
                </a:tc>
              </a:tr>
              <a:tr h="381000">
                <a:tc>
                  <a:txBody>
                    <a:bodyPr wrap="square">
                      <a:normAutofit/>
                    </a:bodyPr>
                    <a:lstStyle/>
                    <a:p>
                      <a:pPr indent="0" lvl="0" marL="0" rtl="0" algn="l">
                        <a:spcBef>
                          <a:spcPts val="0"/>
                        </a:spcBef>
                        <a:spcAft>
                          <a:spcPts val="0"/>
                        </a:spcAft>
                        <a:buNone/>
                      </a:pPr>
                      <a:r>
                        <a:rPr sz="950" b="1">
                          <a:solidFill>
                            <a:srgbClr val="000000"/>
                          </a:solidFill>
                          <a:latin typeface="Arial"/>
                        </a:rPr>
                        <a:t>Scope</a:t>
                      </a:r>
                      <a:endParaRPr b="1">
                        <a:solidFill>
                          <a:schemeClr val="lt1"/>
                        </a:solidFill>
                        <a:latin typeface="Open Sans"/>
                        <a:ea typeface="Open Sans"/>
                        <a:cs typeface="Open Sans"/>
                        <a:sym typeface="Open Sans"/>
                      </a:endParaRPr>
                    </a:p>
                  </a:txBody>
                  <a:tcPr marT="38100" marB="38100" marR="50800" marL="50800">
                    <a:solidFill>
                      <a:srgbClr val="E0F2FE"/>
                    </a:solidFill>
                  </a:tcPr>
                </a:tc>
                <a:tc>
                  <a:txBody>
                    <a:bodyPr wrap="square">
                      <a:normAutofit/>
                    </a:bodyPr>
                    <a:lstStyle/>
                    <a:p>
                      <a:pPr indent="0" lvl="0" marL="0" rtl="0" algn="ctr">
                        <a:spcBef>
                          <a:spcPts val="0"/>
                        </a:spcBef>
                        <a:spcAft>
                          <a:spcPts val="0"/>
                        </a:spcAft>
                        <a:buNone/>
                      </a:pPr>
                      <a:r>
                        <a:rPr sz="950" b="1">
                          <a:solidFill>
                            <a:srgbClr val="000000"/>
                          </a:solidFill>
                          <a:latin typeface="Arial"/>
                        </a:rPr>
                        <a:t>On Track</a:t>
                      </a:r>
                      <a:endParaRPr b="1">
                        <a:solidFill>
                          <a:schemeClr val="lt1"/>
                        </a:solidFill>
                        <a:latin typeface="Open Sans"/>
                        <a:ea typeface="Open Sans"/>
                        <a:cs typeface="Open Sans"/>
                        <a:sym typeface="Open Sans"/>
                      </a:endParaRPr>
                    </a:p>
                  </a:txBody>
                  <a:tcPr marT="38100" marB="38100" marR="50800" marL="50800">
                    <a:lnB cap="flat" cmpd="sng" w="9525">
                      <a:solidFill>
                        <a:srgbClr val="9E9E9E"/>
                      </a:solidFill>
                      <a:prstDash val="solid"/>
                      <a:round/>
                      <a:headEnd len="sm" w="sm" type="none"/>
                      <a:tailEnd len="sm" w="sm" type="none"/>
                    </a:lnB>
                    <a:solidFill>
                      <a:srgbClr val="E0F2FE"/>
                    </a:solidFill>
                  </a:tcPr>
                </a:tc>
                <a:tc>
                  <a:txBody>
                    <a:bodyPr wrap="square">
                      <a:normAutofit/>
                    </a:bodyPr>
                    <a:lstStyle/>
                    <a:p>
                      <a:pPr indent="0" lvl="0" marL="0" rtl="0" algn="l">
                        <a:spcBef>
                          <a:spcPts val="0"/>
                        </a:spcBef>
                        <a:spcAft>
                          <a:spcPts val="0"/>
                        </a:spcAft>
                        <a:buNone/>
                      </a:pPr>
                      <a:r>
                        <a:rPr sz="950" b="1">
                          <a:solidFill>
                            <a:srgbClr val="000000"/>
                          </a:solidFill>
                          <a:latin typeface="Arial"/>
                        </a:rPr>
                        <a:t>Tasks: Completed/Pending</a:t>
                      </a:r>
                      <a:endParaRPr b="1">
                        <a:solidFill>
                          <a:schemeClr val="lt1"/>
                        </a:solidFill>
                        <a:latin typeface="Open Sans"/>
                        <a:ea typeface="Open Sans"/>
                        <a:cs typeface="Open Sans"/>
                        <a:sym typeface="Open Sans"/>
                      </a:endParaRPr>
                    </a:p>
                  </a:txBody>
                  <a:tcPr marT="38100" marB="38100" marR="50800" marL="50800">
                    <a:solidFill>
                      <a:srgbClr val="E0F2FE"/>
                    </a:solidFill>
                  </a:tcPr>
                </a:tc>
              </a:tr>
              <a:tr h="381000">
                <a:tc>
                  <a:txBody>
                    <a:bodyPr wrap="square">
                      <a:normAutofit/>
                    </a:bodyPr>
                    <a:lstStyle/>
                    <a:p>
                      <a:pPr indent="0" lvl="0" marL="0" rtl="0" algn="ctr">
                        <a:spcBef>
                          <a:spcPts val="0"/>
                        </a:spcBef>
                        <a:spcAft>
                          <a:spcPts val="0"/>
                        </a:spcAft>
                        <a:buNone/>
                      </a:pPr>
                      <a:r>
                        <a:rPr sz="950" b="1">
                          <a:solidFill>
                            <a:srgbClr val="000000"/>
                          </a:solidFill>
                          <a:latin typeface="Arial"/>
                        </a:rPr>
                        <a:t>Time</a:t>
                      </a:r>
                      <a:endParaRPr b="1">
                        <a:solidFill>
                          <a:schemeClr val="lt1"/>
                        </a:solidFill>
                        <a:latin typeface="Open Sans"/>
                        <a:ea typeface="Open Sans"/>
                        <a:cs typeface="Open Sans"/>
                        <a:sym typeface="Open Sans"/>
                      </a:endParaRPr>
                    </a:p>
                  </a:txBody>
                  <a:tcPr marT="38100" marB="38100" marR="50800" marL="50800" anchor="ctr">
                    <a:lnR cap="flat" cmpd="sng" w="9525">
                      <a:solidFill>
                        <a:srgbClr val="9E9E9E"/>
                      </a:solidFill>
                      <a:prstDash val="solid"/>
                      <a:round/>
                      <a:headEnd len="sm" w="sm" type="none"/>
                      <a:tailEnd len="sm" w="sm" type="none"/>
                    </a:lnR>
                    <a:solidFill>
                      <a:srgbClr val="02B3E4"/>
                    </a:solidFill>
                  </a:tcPr>
                </a:tc>
                <a:tc>
                  <a:txBody>
                    <a:bodyPr wrap="square">
                      <a:normAutofit/>
                    </a:bodyPr>
                    <a:lstStyle/>
                    <a:p>
                      <a:pPr indent="0" lvl="0" marL="0" rtl="0" algn="ctr">
                        <a:spcBef>
                          <a:spcPts val="0"/>
                        </a:spcBef>
                        <a:spcAft>
                          <a:spcPts val="0"/>
                        </a:spcAft>
                        <a:buNone/>
                      </a:pPr>
                      <a:r>
                        <a:rPr sz="950" b="0">
                          <a:solidFill>
                            <a:srgbClr val="000000"/>
                          </a:solidFill>
                          <a:latin typeface="Arial"/>
                        </a:rPr>
                        <a:t>At Risk</a:t>
                      </a:r>
                      <a:endParaRPr>
                        <a:latin typeface="Open Sans Light"/>
                        <a:ea typeface="Open Sans Light"/>
                        <a:cs typeface="Open Sans Light"/>
                        <a:sym typeface="Open Sans Light"/>
                      </a:endParaRPr>
                    </a:p>
                  </a:txBody>
                  <a:tcPr marT="38100" marB="38100" marR="50800" marL="508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rowSpan="3">
                  <a:txBody>
                    <a:bodyPr wrap="square">
                      <a:normAutofit/>
                    </a:bodyPr>
                    <a:lstStyle/>
                    <a:p>
                      <a:pPr indent="0" lvl="0" marL="0" rtl="0" algn="l">
                        <a:spcBef>
                          <a:spcPts val="0"/>
                        </a:spcBef>
                        <a:spcAft>
                          <a:spcPts val="0"/>
                        </a:spcAft>
                        <a:buNone/>
                      </a:pPr>
                      <a:r>
                        <a:rPr sz="869" b="0">
                          <a:solidFill>
                            <a:srgbClr val="000000"/>
                          </a:solidFill>
                          <a:latin typeface="Arial"/>
                        </a:rPr>
                        <a:t>Completed:</a:t>
                      </a:r>
                      <a:endParaRPr b="1" sz="1100">
                        <a:solidFill>
                          <a:schemeClr val="dk1"/>
                        </a:solidFill>
                        <a:latin typeface="Open Sans"/>
                        <a:ea typeface="Open Sans"/>
                        <a:cs typeface="Open Sans"/>
                        <a:sym typeface="Open Sans"/>
                      </a:endParaRPr>
                    </a:p>
                    <a:p>
                      <a:r>
                        <a:rPr sz="869" b="0">
                          <a:solidFill>
                            <a:srgbClr val="000000"/>
                          </a:solidFill>
                          <a:latin typeface="Arial"/>
                        </a:rPr>
                        <a:t>• Kickoff meeting</a:t>
                      </a:r>
                    </a:p>
                    <a:p>
                      <a:r>
                        <a:rPr sz="869" b="0">
                          <a:solidFill>
                            <a:srgbClr val="000000"/>
                          </a:solidFill>
                          <a:latin typeface="Arial"/>
                        </a:rPr>
                        <a:t>• Stakeholder engagement started</a:t>
                      </a:r>
                    </a:p>
                    <a:p>
                      <a:r>
                        <a:rPr sz="869" b="0">
                          <a:solidFill>
                            <a:srgbClr val="000000"/>
                          </a:solidFill>
                          <a:latin typeface="Arial"/>
                        </a:rPr>
                        <a:t>• Social media channels created</a:t>
                      </a:r>
                    </a:p>
                    <a:p>
                      <a:r>
                        <a:rPr sz="869" b="0">
                          <a:solidFill>
                            <a:srgbClr val="000000"/>
                          </a:solidFill>
                          <a:latin typeface="Arial"/>
                        </a:rPr>
                        <a:t>• Storefront built and released</a:t>
                      </a:r>
                    </a:p>
                    <a:p>
                      <a:r>
                        <a:rPr sz="869" b="0">
                          <a:solidFill>
                            <a:srgbClr val="000000"/>
                          </a:solidFill>
                          <a:latin typeface="Arial"/>
                        </a:rPr>
                        <a:t>• Storefront technical documentation</a:t>
                      </a:r>
                    </a:p>
                    <a:p/>
                    <a:p>
                      <a:r>
                        <a:rPr sz="869" b="0">
                          <a:solidFill>
                            <a:srgbClr val="000000"/>
                          </a:solidFill>
                          <a:latin typeface="Arial"/>
                        </a:rPr>
                        <a:t>Pending:</a:t>
                      </a:r>
                    </a:p>
                    <a:p>
                      <a:r>
                        <a:rPr sz="869" b="0">
                          <a:solidFill>
                            <a:srgbClr val="000000"/>
                          </a:solidFill>
                          <a:latin typeface="Arial"/>
                        </a:rPr>
                        <a:t>• Inventory data input</a:t>
                      </a:r>
                    </a:p>
                    <a:p>
                      <a:r>
                        <a:rPr sz="869" b="0">
                          <a:solidFill>
                            <a:srgbClr val="000000"/>
                          </a:solidFill>
                          <a:latin typeface="Arial"/>
                        </a:rPr>
                        <a:t>• Social media integration</a:t>
                      </a:r>
                    </a:p>
                    <a:p>
                      <a:r>
                        <a:rPr sz="869" b="0">
                          <a:solidFill>
                            <a:srgbClr val="000000"/>
                          </a:solidFill>
                          <a:latin typeface="Arial"/>
                        </a:rPr>
                        <a:t>• Recommendation engine</a:t>
                      </a:r>
                    </a:p>
                    <a:p>
                      <a:r>
                        <a:rPr sz="869" b="0">
                          <a:solidFill>
                            <a:srgbClr val="000000"/>
                          </a:solidFill>
                          <a:latin typeface="Arial"/>
                        </a:rPr>
                        <a:t>• Custom sales report</a:t>
                      </a:r>
                    </a:p>
                    <a:p>
                      <a:r>
                        <a:rPr sz="869" b="0">
                          <a:solidFill>
                            <a:srgbClr val="000000"/>
                          </a:solidFill>
                          <a:latin typeface="Arial"/>
                        </a:rPr>
                        <a:t>• Platform user manual</a:t>
                      </a:r>
                    </a:p>
                    <a:p>
                      <a:r>
                        <a:rPr sz="869" b="0">
                          <a:solidFill>
                            <a:srgbClr val="000000"/>
                          </a:solidFill>
                          <a:latin typeface="Arial"/>
                        </a:rPr>
                        <a:t>• Stefano training</a:t>
                      </a:r>
                    </a:p>
                    <a:p>
                      <a:r>
                        <a:rPr sz="869" b="0">
                          <a:solidFill>
                            <a:srgbClr val="000000"/>
                          </a:solidFill>
                          <a:latin typeface="Arial"/>
                        </a:rPr>
                        <a:t>• Go-live and closure</a:t>
                      </a:r>
                    </a:p>
                  </a:txBody>
                  <a:tcPr marT="38100" marB="38100" marR="50800" marL="50800">
                    <a:lnL cap="flat" cmpd="sng" w="9525">
                      <a:solidFill>
                        <a:srgbClr val="9E9E9E"/>
                      </a:solidFill>
                      <a:prstDash val="solid"/>
                      <a:round/>
                      <a:headEnd len="sm" w="sm" type="none"/>
                      <a:tailEnd len="sm" w="sm" type="none"/>
                    </a:lnL>
                  </a:tcPr>
                </a:tc>
              </a:tr>
              <a:tr h="381000">
                <a:tc>
                  <a:txBody>
                    <a:bodyPr wrap="square">
                      <a:normAutofit/>
                    </a:bodyPr>
                    <a:lstStyle/>
                    <a:p>
                      <a:pPr indent="0" lvl="0" marL="0" rtl="0" algn="ctr">
                        <a:spcBef>
                          <a:spcPts val="0"/>
                        </a:spcBef>
                        <a:spcAft>
                          <a:spcPts val="0"/>
                        </a:spcAft>
                        <a:buNone/>
                      </a:pPr>
                      <a:r>
                        <a:rPr sz="950" b="1">
                          <a:solidFill>
                            <a:srgbClr val="000000"/>
                          </a:solidFill>
                          <a:latin typeface="Arial"/>
                        </a:rPr>
                        <a:t>Cost</a:t>
                      </a:r>
                      <a:endParaRPr b="1">
                        <a:solidFill>
                          <a:schemeClr val="lt1"/>
                        </a:solidFill>
                        <a:latin typeface="Open Sans"/>
                        <a:ea typeface="Open Sans"/>
                        <a:cs typeface="Open Sans"/>
                        <a:sym typeface="Open Sans"/>
                      </a:endParaRPr>
                    </a:p>
                  </a:txBody>
                  <a:tcPr marT="38100" marB="38100" marR="50800" marL="50800" anchor="ctr">
                    <a:lnR cap="flat" cmpd="sng" w="9525">
                      <a:solidFill>
                        <a:srgbClr val="9E9E9E"/>
                      </a:solidFill>
                      <a:prstDash val="solid"/>
                      <a:round/>
                      <a:headEnd len="sm" w="sm" type="none"/>
                      <a:tailEnd len="sm" w="sm" type="none"/>
                    </a:lnR>
                    <a:solidFill>
                      <a:srgbClr val="02B3E4"/>
                    </a:solidFill>
                  </a:tcPr>
                </a:tc>
                <a:tc>
                  <a:txBody>
                    <a:bodyPr wrap="square">
                      <a:normAutofit/>
                    </a:bodyPr>
                    <a:lstStyle/>
                    <a:p>
                      <a:pPr indent="0" lvl="0" marL="0" rtl="0" algn="ctr">
                        <a:spcBef>
                          <a:spcPts val="0"/>
                        </a:spcBef>
                        <a:spcAft>
                          <a:spcPts val="0"/>
                        </a:spcAft>
                        <a:buNone/>
                      </a:pPr>
                      <a:r>
                        <a:rPr sz="950" b="0">
                          <a:solidFill>
                            <a:srgbClr val="000000"/>
                          </a:solidFill>
                          <a:latin typeface="Arial"/>
                        </a:rPr>
                        <a:t>On Track</a:t>
                      </a:r>
                      <a:endParaRPr>
                        <a:latin typeface="Open Sans Light"/>
                        <a:ea typeface="Open Sans Light"/>
                        <a:cs typeface="Open Sans Light"/>
                        <a:sym typeface="Open Sans Light"/>
                      </a:endParaRPr>
                    </a:p>
                  </a:txBody>
                  <a:tcPr marT="38100" marB="38100" marR="50800" marL="508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vMerge="1">
                  <a:txBody>
                    <a:bodyPr wrap="square">
                      <a:normAutofit/>
                    </a:bodyPr>
                    <a:p/>
                  </a:txBody>
                  <a:tcPr marL="50800" marR="50800" marT="38100" marB="38100"/>
                </a:tc>
              </a:tr>
              <a:tr h="627900">
                <a:tc>
                  <a:txBody>
                    <a:bodyPr wrap="square">
                      <a:normAutofit/>
                    </a:bodyPr>
                    <a:lstStyle/>
                    <a:p>
                      <a:pPr indent="0" lvl="0" marL="0" rtl="0" algn="ctr">
                        <a:spcBef>
                          <a:spcPts val="0"/>
                        </a:spcBef>
                        <a:spcAft>
                          <a:spcPts val="0"/>
                        </a:spcAft>
                        <a:buNone/>
                      </a:pPr>
                      <a:r>
                        <a:rPr sz="950" b="1">
                          <a:solidFill>
                            <a:srgbClr val="000000"/>
                          </a:solidFill>
                          <a:latin typeface="Arial"/>
                        </a:rPr>
                        <a:t>Quality</a:t>
                      </a:r>
                      <a:endParaRPr b="1">
                        <a:solidFill>
                          <a:schemeClr val="lt1"/>
                        </a:solidFill>
                        <a:latin typeface="Open Sans"/>
                        <a:ea typeface="Open Sans"/>
                        <a:cs typeface="Open Sans"/>
                        <a:sym typeface="Open Sans"/>
                      </a:endParaRPr>
                    </a:p>
                  </a:txBody>
                  <a:tcPr marT="38100" marB="38100" marR="50800" marL="50800" anchor="ctr">
                    <a:lnR cap="flat" cmpd="sng" w="9525">
                      <a:solidFill>
                        <a:srgbClr val="9E9E9E"/>
                      </a:solidFill>
                      <a:prstDash val="solid"/>
                      <a:round/>
                      <a:headEnd len="sm" w="sm" type="none"/>
                      <a:tailEnd len="sm" w="sm" type="none"/>
                    </a:lnR>
                    <a:solidFill>
                      <a:srgbClr val="02B3E4"/>
                    </a:solidFill>
                  </a:tcPr>
                </a:tc>
                <a:tc>
                  <a:txBody>
                    <a:bodyPr wrap="square">
                      <a:normAutofit/>
                    </a:bodyPr>
                    <a:lstStyle/>
                    <a:p>
                      <a:pPr indent="0" lvl="0" marL="0" rtl="0" algn="ctr">
                        <a:spcBef>
                          <a:spcPts val="0"/>
                        </a:spcBef>
                        <a:spcAft>
                          <a:spcPts val="0"/>
                        </a:spcAft>
                        <a:buNone/>
                      </a:pPr>
                      <a:r>
                        <a:rPr sz="950" b="0">
                          <a:solidFill>
                            <a:srgbClr val="000000"/>
                          </a:solidFill>
                          <a:latin typeface="Arial"/>
                        </a:rPr>
                        <a:t>At Risk</a:t>
                      </a:r>
                      <a:endParaRPr>
                        <a:latin typeface="Open Sans Light"/>
                        <a:ea typeface="Open Sans Light"/>
                        <a:cs typeface="Open Sans Light"/>
                        <a:sym typeface="Open Sans Light"/>
                      </a:endParaRPr>
                    </a:p>
                  </a:txBody>
                  <a:tcPr marT="38100" marB="38100" marR="50800" marL="508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vMerge="1">
                  <a:txBody>
                    <a:bodyPr wrap="square">
                      <a:normAutofit/>
                    </a:bodyPr>
                    <a:p/>
                  </a:txBody>
                  <a:tcPr marL="50800" marR="50800" marT="38100" marB="38100"/>
                </a:tc>
              </a:tr>
            </a:tbl>
          </a:graphicData>
        </a:graphic>
      </p:graphicFrame>
      <p:graphicFrame>
        <p:nvGraphicFramePr>
          <p:cNvPr id="226" name="Google Shape;226;p37"/>
          <p:cNvGraphicFramePr/>
          <p:nvPr/>
        </p:nvGraphicFramePr>
        <p:xfrm>
          <a:off x="264900" y="4250200"/>
          <a:ext cx="3000000" cy="3000000"/>
        </p:xfrm>
        <a:graphic>
          <a:graphicData uri="http://schemas.openxmlformats.org/drawingml/2006/table">
            <a:tbl>
              <a:tblPr>
                <a:noFill/>
                <a:tableStyleId>{C82BA829-6A89-494B-93C7-34DF5BC7DE1F}</a:tableStyleId>
              </a:tblPr>
              <a:tblGrid>
                <a:gridCol w="7242600"/>
              </a:tblGrid>
              <a:tr h="320925">
                <a:tc>
                  <a:txBody>
                    <a:bodyPr wrap="square">
                      <a:normAutofit/>
                    </a:bodyPr>
                    <a:lstStyle/>
                    <a:p>
                      <a:pPr indent="0" lvl="0" marL="0" rtl="0" algn="ctr">
                        <a:spcBef>
                          <a:spcPts val="0"/>
                        </a:spcBef>
                        <a:spcAft>
                          <a:spcPts val="0"/>
                        </a:spcAft>
                        <a:buClr>
                          <a:schemeClr val="dk1"/>
                        </a:buClr>
                        <a:buSzPts val="1100"/>
                        <a:buFont typeface="Arial"/>
                        <a:buNone/>
                      </a:pPr>
                      <a:r>
                        <a:rPr sz="1050" b="1">
                          <a:solidFill>
                            <a:srgbClr val="FFFFFF"/>
                          </a:solidFill>
                          <a:latin typeface="Arial"/>
                        </a:rPr>
                        <a:t>Project Highlights/Blockers</a:t>
                      </a:r>
                      <a:endParaRPr>
                        <a:solidFill>
                          <a:schemeClr val="dk1"/>
                        </a:solidFill>
                        <a:latin typeface="Open Sans Light"/>
                        <a:ea typeface="Open Sans Light"/>
                        <a:cs typeface="Open Sans Light"/>
                        <a:sym typeface="Open Sans Light"/>
                      </a:endParaRPr>
                    </a:p>
                  </a:txBody>
                  <a:tcPr marT="38100" marB="38100" marR="50800" marL="50800">
                    <a:solidFill>
                      <a:srgbClr val="00A6C8"/>
                    </a:solidFill>
                  </a:tcPr>
                </a:tc>
              </a:tr>
              <a:tr h="1824975">
                <a:tc>
                  <a:txBody>
                    <a:bodyPr wrap="square">
                      <a:normAutofit/>
                    </a:bodyPr>
                    <a:lstStyle/>
                    <a:p>
                      <a:pPr indent="0" lvl="0" marL="0" rtl="0" algn="l">
                        <a:spcBef>
                          <a:spcPts val="0"/>
                        </a:spcBef>
                        <a:spcAft>
                          <a:spcPts val="0"/>
                        </a:spcAft>
                        <a:buClr>
                          <a:schemeClr val="dk1"/>
                        </a:buClr>
                        <a:buSzPts val="1100"/>
                        <a:buFont typeface="Arial"/>
                        <a:buNone/>
                      </a:pPr>
                      <a:r>
                        <a:rPr sz="880" b="0">
                          <a:solidFill>
                            <a:srgbClr val="000000"/>
                          </a:solidFill>
                          <a:latin typeface="Arial"/>
                        </a:rPr>
                        <a:t>Highlights:</a:t>
                      </a:r>
                      <a:endParaRPr b="1" sz="1200">
                        <a:solidFill>
                          <a:schemeClr val="dk1"/>
                        </a:solidFill>
                        <a:latin typeface="Open Sans"/>
                        <a:ea typeface="Open Sans"/>
                        <a:cs typeface="Open Sans"/>
                        <a:sym typeface="Open Sans"/>
                      </a:endParaRPr>
                    </a:p>
                    <a:p>
                      <a:r>
                        <a:rPr sz="880" b="0">
                          <a:solidFill>
                            <a:srgbClr val="000000"/>
                          </a:solidFill>
                          <a:latin typeface="Arial"/>
                        </a:rPr>
                        <a:t>• The project has started on schedule.</a:t>
                      </a:r>
                    </a:p>
                    <a:p>
                      <a:r>
                        <a:rPr sz="880" b="0">
                          <a:solidFill>
                            <a:srgbClr val="000000"/>
                          </a:solidFill>
                          <a:latin typeface="Arial"/>
                        </a:rPr>
                        <a:t>• Social media channels are ready for Engineering integration.</a:t>
                      </a:r>
                    </a:p>
                    <a:p>
                      <a:r>
                        <a:rPr sz="880" b="0">
                          <a:solidFill>
                            <a:srgbClr val="000000"/>
                          </a:solidFill>
                          <a:latin typeface="Arial"/>
                        </a:rPr>
                        <a:t>• The storefront is built and ready for inventory data.</a:t>
                      </a:r>
                    </a:p>
                    <a:p/>
                    <a:p>
                      <a:r>
                        <a:rPr sz="880" b="0">
                          <a:solidFill>
                            <a:srgbClr val="000000"/>
                          </a:solidFill>
                          <a:latin typeface="Arial"/>
                        </a:rPr>
                        <a:t>Blockers:</a:t>
                      </a:r>
                    </a:p>
                    <a:p>
                      <a:r>
                        <a:rPr sz="880" b="0">
                          <a:solidFill>
                            <a:srgbClr val="000000"/>
                          </a:solidFill>
                          <a:latin typeface="Arial"/>
                        </a:rPr>
                        <a:t>• Stefano inventory list was not delivered by the planned inventory start date.</a:t>
                      </a:r>
                    </a:p>
                    <a:p>
                      <a:r>
                        <a:rPr sz="880" b="0">
                          <a:solidFill>
                            <a:srgbClr val="000000"/>
                          </a:solidFill>
                          <a:latin typeface="Arial"/>
                        </a:rPr>
                        <a:t>• Inventory loading, training, and go-live could slip if the list is delayed more than a few days.</a:t>
                      </a:r>
                    </a:p>
                  </a:txBody>
                  <a:tcPr marT="38100" marB="38100" marR="50800" marL="50800"/>
                </a:tc>
              </a:tr>
            </a:tbl>
          </a:graphicData>
        </a:graphic>
      </p:graphicFrame>
      <p:graphicFrame>
        <p:nvGraphicFramePr>
          <p:cNvPr id="227" name="Google Shape;227;p37"/>
          <p:cNvGraphicFramePr/>
          <p:nvPr/>
        </p:nvGraphicFramePr>
        <p:xfrm>
          <a:off x="264900" y="2959750"/>
          <a:ext cx="3000000" cy="3000000"/>
        </p:xfrm>
        <a:graphic>
          <a:graphicData uri="http://schemas.openxmlformats.org/drawingml/2006/table">
            <a:tbl>
              <a:tblPr>
                <a:noFill/>
                <a:tableStyleId>{C82BA829-6A89-494B-93C7-34DF5BC7DE1F}</a:tableStyleId>
              </a:tblPr>
              <a:tblGrid>
                <a:gridCol w="7242600"/>
              </a:tblGrid>
              <a:tr h="346975">
                <a:tc>
                  <a:txBody>
                    <a:bodyPr wrap="square">
                      <a:normAutofit/>
                    </a:bodyPr>
                    <a:lstStyle/>
                    <a:p>
                      <a:pPr indent="0" lvl="0" marL="0" rtl="0" algn="ctr">
                        <a:spcBef>
                          <a:spcPts val="0"/>
                        </a:spcBef>
                        <a:spcAft>
                          <a:spcPts val="0"/>
                        </a:spcAft>
                        <a:buNone/>
                      </a:pPr>
                      <a:r>
                        <a:rPr sz="1050" b="1">
                          <a:solidFill>
                            <a:srgbClr val="FFFFFF"/>
                          </a:solidFill>
                          <a:latin typeface="Arial"/>
                        </a:rPr>
                        <a:t>Project Summary</a:t>
                      </a:r>
                      <a:endParaRPr>
                        <a:solidFill>
                          <a:schemeClr val="dk1"/>
                        </a:solidFill>
                        <a:latin typeface="Open Sans Light"/>
                        <a:ea typeface="Open Sans Light"/>
                        <a:cs typeface="Open Sans Light"/>
                        <a:sym typeface="Open Sans Light"/>
                      </a:endParaRPr>
                    </a:p>
                  </a:txBody>
                  <a:tcPr marT="38100" marB="38100" marR="50800" marL="50800">
                    <a:solidFill>
                      <a:srgbClr val="00A6C8"/>
                    </a:solidFill>
                  </a:tcPr>
                </a:tc>
              </a:tr>
              <a:tr h="717075">
                <a:tc>
                  <a:txBody>
                    <a:bodyPr wrap="square">
                      <a:normAutofit/>
                    </a:bodyPr>
                    <a:lstStyle/>
                    <a:p>
                      <a:pPr indent="0" lvl="0" marL="0" rtl="0" algn="l">
                        <a:spcBef>
                          <a:spcPts val="0"/>
                        </a:spcBef>
                        <a:spcAft>
                          <a:spcPts val="0"/>
                        </a:spcAft>
                        <a:buNone/>
                      </a:pPr>
                      <a:r>
                        <a:rPr sz="880" b="0">
                          <a:solidFill>
                            <a:srgbClr val="000000"/>
                          </a:solidFill>
                          <a:latin typeface="Arial"/>
                        </a:rPr>
                        <a:t>This project will digitize The Stefano Shop by delivering a Yosemite storefront, social media integration, recommendation engine, inventory setup, custom sales reporting, documentation, and platform training. The project is planned within the $15,000 budget and must finish within 12 weeks, but the missing inventory list creates a schedule and quality risk that requires immediate mitigation.</a:t>
                      </a:r>
                      <a:endParaRPr sz="1200">
                        <a:solidFill>
                          <a:schemeClr val="dk1"/>
                        </a:solidFill>
                        <a:latin typeface="Open Sans"/>
                        <a:ea typeface="Open Sans"/>
                        <a:cs typeface="Open Sans"/>
                        <a:sym typeface="Open Sans"/>
                      </a:endParaRPr>
                    </a:p>
                  </a:txBody>
                  <a:tcPr marT="38100" marB="38100" marR="50800" marL="50800"/>
                </a:tc>
              </a:tr>
            </a:tbl>
          </a:graphicData>
        </a:graphic>
      </p:graphicFrame>
      <p:graphicFrame>
        <p:nvGraphicFramePr>
          <p:cNvPr id="228" name="Google Shape;228;p37"/>
          <p:cNvGraphicFramePr/>
          <p:nvPr/>
        </p:nvGraphicFramePr>
        <p:xfrm>
          <a:off x="264900" y="1990175"/>
          <a:ext cx="3000000" cy="3000000"/>
        </p:xfrm>
        <a:graphic>
          <a:graphicData uri="http://schemas.openxmlformats.org/drawingml/2006/table">
            <a:tbl>
              <a:tblPr>
                <a:noFill/>
                <a:tableStyleId>{C82BA829-6A89-494B-93C7-34DF5BC7DE1F}</a:tableStyleId>
              </a:tblPr>
              <a:tblGrid>
                <a:gridCol w="3621300"/>
                <a:gridCol w="3621300"/>
              </a:tblGrid>
              <a:tr h="381000">
                <a:tc>
                  <a:txBody>
                    <a:bodyPr wrap="square">
                      <a:normAutofit/>
                    </a:bodyPr>
                    <a:lstStyle/>
                    <a:p>
                      <a:pPr indent="0" lvl="0" marL="0" rtl="0" algn="l">
                        <a:spcBef>
                          <a:spcPts val="0"/>
                        </a:spcBef>
                        <a:spcAft>
                          <a:spcPts val="0"/>
                        </a:spcAft>
                        <a:buNone/>
                      </a:pPr>
                      <a:r>
                        <a:rPr sz="880" b="1">
                          <a:solidFill>
                            <a:srgbClr val="000000"/>
                          </a:solidFill>
                          <a:latin typeface="Arial"/>
                        </a:rPr>
                        <a:t>Yosemite - The Stefano Shop Digital Transformation</a:t>
                      </a:r>
                      <a:endParaRPr>
                        <a:latin typeface="Open Sans Light"/>
                        <a:ea typeface="Open Sans Light"/>
                        <a:cs typeface="Open Sans Light"/>
                        <a:sym typeface="Open Sans Light"/>
                      </a:endParaRPr>
                    </a:p>
                  </a:txBody>
                  <a:tcPr marT="38100" marB="38100" marR="50800" marL="50800"/>
                </a:tc>
                <a:tc>
                  <a:txBody>
                    <a:bodyPr wrap="square">
                      <a:normAutofit/>
                    </a:bodyPr>
                    <a:lstStyle/>
                    <a:p>
                      <a:pPr indent="0" lvl="0" marL="0" rtl="0" algn="l">
                        <a:spcBef>
                          <a:spcPts val="0"/>
                        </a:spcBef>
                        <a:spcAft>
                          <a:spcPts val="0"/>
                        </a:spcAft>
                        <a:buNone/>
                      </a:pPr>
                      <a:r>
                        <a:rPr sz="880" b="1">
                          <a:solidFill>
                            <a:srgbClr val="000000"/>
                          </a:solidFill>
                          <a:latin typeface="Arial"/>
                        </a:rPr>
                        <a:t>Yosemite / The Stefano Shop</a:t>
                      </a:r>
                      <a:endParaRPr>
                        <a:latin typeface="Open Sans Light"/>
                        <a:ea typeface="Open Sans Light"/>
                        <a:cs typeface="Open Sans Light"/>
                        <a:sym typeface="Open Sans Light"/>
                      </a:endParaRPr>
                    </a:p>
                  </a:txBody>
                  <a:tcPr marT="38100" marB="38100" marR="50800" marL="50800"/>
                </a:tc>
              </a:tr>
              <a:tr h="381000">
                <a:tc>
                  <a:txBody>
                    <a:bodyPr wrap="square">
                      <a:normAutofit/>
                    </a:bodyPr>
                    <a:lstStyle/>
                    <a:p>
                      <a:pPr indent="0" lvl="0" marL="0" rtl="0" algn="l">
                        <a:spcBef>
                          <a:spcPts val="0"/>
                        </a:spcBef>
                        <a:spcAft>
                          <a:spcPts val="0"/>
                        </a:spcAft>
                        <a:buNone/>
                      </a:pPr>
                      <a:r>
                        <a:rPr sz="880" b="0">
                          <a:solidFill>
                            <a:srgbClr val="000000"/>
                          </a:solidFill>
                          <a:latin typeface="Arial"/>
                        </a:rPr>
                        <a:t>Hashim Naveed, Project Manager</a:t>
                      </a:r>
                      <a:endParaRPr>
                        <a:latin typeface="Open Sans Light"/>
                        <a:ea typeface="Open Sans Light"/>
                        <a:cs typeface="Open Sans Light"/>
                        <a:sym typeface="Open Sans Light"/>
                      </a:endParaRPr>
                    </a:p>
                  </a:txBody>
                  <a:tcPr marT="38100" marB="38100" marR="50800" marL="50800"/>
                </a:tc>
                <a:tc>
                  <a:txBody>
                    <a:bodyPr wrap="square">
                      <a:normAutofit/>
                    </a:bodyPr>
                    <a:lstStyle/>
                    <a:p>
                      <a:pPr indent="0" lvl="0" marL="0" rtl="0" algn="l">
                        <a:spcBef>
                          <a:spcPts val="0"/>
                        </a:spcBef>
                        <a:spcAft>
                          <a:spcPts val="0"/>
                        </a:spcAft>
                        <a:buNone/>
                      </a:pPr>
                      <a:r>
                        <a:rPr sz="880" b="0">
                          <a:solidFill>
                            <a:srgbClr val="000000"/>
                          </a:solidFill>
                          <a:latin typeface="Arial"/>
                        </a:rPr>
                        <a:t>June 22, 2026</a:t>
                      </a:r>
                      <a:endParaRPr>
                        <a:latin typeface="Open Sans Light"/>
                        <a:ea typeface="Open Sans Light"/>
                        <a:cs typeface="Open Sans Light"/>
                        <a:sym typeface="Open Sans Light"/>
                      </a:endParaRPr>
                    </a:p>
                  </a:txBody>
                  <a:tcPr marT="38100" marB="38100" marR="50800" marL="50800"/>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8"/>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Risk Scenario 2</a:t>
            </a:r>
            <a:endParaRPr/>
          </a:p>
        </p:txBody>
      </p:sp>
      <p:sp>
        <p:nvSpPr>
          <p:cNvPr id="234" name="Google Shape;234;p38"/>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the Engineering team began designing the recommendation engine, they informed you that the task was more complicated than anticipated. The Engineering Manager said it would take four weeks and cost an additional $3,500 to upgrade the AI service that powers the recommendation engine. That fee would have to be covered by the customer.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Open Sans"/>
                <a:ea typeface="Open Sans"/>
                <a:cs typeface="Open Sans"/>
                <a:sym typeface="Open Sans"/>
              </a:rPr>
              <a:t>Your task is to:</a:t>
            </a:r>
            <a:endParaRPr b="1">
              <a:latin typeface="Open Sans"/>
              <a:ea typeface="Open Sans"/>
              <a:cs typeface="Open Sans"/>
              <a:sym typeface="Open Sans"/>
            </a:endParaRPr>
          </a:p>
          <a:p>
            <a:pPr indent="-298450" lvl="0" marL="457200" rtl="0" algn="l">
              <a:spcBef>
                <a:spcPts val="0"/>
              </a:spcBef>
              <a:spcAft>
                <a:spcPts val="0"/>
              </a:spcAft>
              <a:buClr>
                <a:srgbClr val="0E101A"/>
              </a:buClr>
              <a:buSzPts val="1100"/>
              <a:buFont typeface="Arial"/>
              <a:buChar char="●"/>
            </a:pPr>
            <a:r>
              <a:rPr lang="en"/>
              <a:t>Analyze the above risk and describe how this affects the project. Address at least two different critical points of risk, like scope, cost, schedule, quality, stakeholder relationships, etc.</a:t>
            </a:r>
            <a:endParaRPr/>
          </a:p>
          <a:p>
            <a:pPr indent="-298450" lvl="0" marL="457200" rtl="0" algn="l">
              <a:spcBef>
                <a:spcPts val="0"/>
              </a:spcBef>
              <a:spcAft>
                <a:spcPts val="0"/>
              </a:spcAft>
              <a:buClr>
                <a:srgbClr val="0E101A"/>
              </a:buClr>
              <a:buSzPts val="1100"/>
              <a:buFont typeface="Arial"/>
              <a:buChar char="●"/>
            </a:pPr>
            <a:r>
              <a:rPr lang="en"/>
              <a:t>Choose a risk response strategy (see the valid strategies on the "Response Strategies" slide.)</a:t>
            </a:r>
            <a:endParaRPr/>
          </a:p>
          <a:p>
            <a:pPr indent="-298450" lvl="0" marL="457200" rtl="0" algn="l">
              <a:spcBef>
                <a:spcPts val="0"/>
              </a:spcBef>
              <a:spcAft>
                <a:spcPts val="0"/>
              </a:spcAft>
              <a:buClr>
                <a:srgbClr val="0E101A"/>
              </a:buClr>
              <a:buSzPts val="1100"/>
              <a:buFont typeface="Arial"/>
              <a:buChar char="●"/>
            </a:pPr>
            <a:r>
              <a:rPr lang="en"/>
              <a:t>Explain how you would apply the strategy in 3-5 sentences, including how it would impact the customer.</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9"/>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Risk Scenario 2 Response</a:t>
            </a:r>
            <a:endParaRPr/>
          </a:p>
        </p:txBody>
      </p:sp>
      <p:graphicFrame>
        <p:nvGraphicFramePr>
          <p:cNvPr id="240" name="Google Shape;240;p39"/>
          <p:cNvGraphicFramePr/>
          <p:nvPr/>
        </p:nvGraphicFramePr>
        <p:xfrm>
          <a:off x="264900" y="2253750"/>
          <a:ext cx="3000000" cy="3000000"/>
        </p:xfrm>
        <a:graphic>
          <a:graphicData uri="http://schemas.openxmlformats.org/drawingml/2006/table">
            <a:tbl>
              <a:tblPr>
                <a:noFill/>
                <a:tableStyleId>{C82BA829-6A89-494B-93C7-34DF5BC7DE1F}</a:tableStyleId>
              </a:tblPr>
              <a:tblGrid>
                <a:gridCol w="3621300"/>
                <a:gridCol w="3621300"/>
              </a:tblGrid>
              <a:tr h="356750">
                <a:tc gridSpan="2">
                  <a:txBody>
                    <a:bodyPr wrap="square">
                      <a:normAutofit/>
                    </a:bodyPr>
                    <a:lstStyle/>
                    <a:p>
                      <a:pPr indent="0" lvl="0" marL="0" rtl="0" algn="l">
                        <a:lnSpc>
                          <a:spcPct val="115000"/>
                        </a:lnSpc>
                        <a:spcBef>
                          <a:spcPts val="0"/>
                        </a:spcBef>
                        <a:spcAft>
                          <a:spcPts val="0"/>
                        </a:spcAft>
                        <a:buNone/>
                      </a:pPr>
                      <a:r>
                        <a:rPr sz="1000" b="1">
                          <a:solidFill>
                            <a:srgbClr val="000000"/>
                          </a:solidFill>
                          <a:latin typeface="Arial"/>
                        </a:rPr>
                        <a:t>How might this risk affect the project?</a:t>
                      </a:r>
                      <a:endParaRPr sz="1800">
                        <a:solidFill>
                          <a:srgbClr val="525C65"/>
                        </a:solidFill>
                        <a:latin typeface="Open Sans"/>
                        <a:ea typeface="Open Sans"/>
                        <a:cs typeface="Open Sans"/>
                        <a:sym typeface="Open Sans"/>
                      </a:endParaRPr>
                    </a:p>
                  </a:txBody>
                  <a:tcPr marT="25400" marB="25400" marR="50800" marL="508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0F2FE"/>
                    </a:solidFill>
                  </a:tcPr>
                </a:tc>
                <a:tc hMerge="1">
                  <a:txBody>
                    <a:bodyPr wrap="square">
                      <a:normAutofit/>
                    </a:bodyPr>
                    <a:p/>
                  </a:txBody>
                  <a:tcPr marL="50800" marR="50800" marT="25400" marB="25400">
                    <a:solidFill>
                      <a:srgbClr val="E0F2FE"/>
                    </a:solidFill>
                  </a:tcPr>
                </a:tc>
              </a:tr>
              <a:tr h="2424825">
                <a:tc gridSpan="2">
                  <a:txBody>
                    <a:bodyPr wrap="square">
                      <a:normAutofit/>
                    </a:bodyPr>
                    <a:lstStyle/>
                    <a:p>
                      <a:pPr indent="0" lvl="0" marL="0" rtl="0" algn="l">
                        <a:spcBef>
                          <a:spcPts val="0"/>
                        </a:spcBef>
                        <a:spcAft>
                          <a:spcPts val="0"/>
                        </a:spcAft>
                        <a:buNone/>
                      </a:pPr>
                      <a:r>
                        <a:rPr sz="840" b="0">
                          <a:solidFill>
                            <a:srgbClr val="000000"/>
                          </a:solidFill>
                          <a:latin typeface="Arial"/>
                        </a:rPr>
                        <a:t>This risk affects cost because the project would increase from $15,000 to $18,500, which directly conflicts with Papa Stefano's budget concern. It also affects schedule because the recommendation engine would take four weeks instead of two and could push training, go-live, and closure later. Scope and stakeholder relationships are at risk because the customer expected the recommendation engine within the original package and may need to approve a change request or accept a reduced feature.</a:t>
                      </a:r>
                      <a:endParaRPr sz="1800">
                        <a:solidFill>
                          <a:srgbClr val="525C65"/>
                        </a:solidFill>
                        <a:latin typeface="Open Sans"/>
                        <a:ea typeface="Open Sans"/>
                        <a:cs typeface="Open Sans"/>
                        <a:sym typeface="Open Sans"/>
                      </a:endParaRPr>
                    </a:p>
                  </a:txBody>
                  <a:tcPr marT="25400" marB="25400" marR="50800" marL="508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hMerge="1">
                  <a:txBody>
                    <a:bodyPr wrap="square">
                      <a:normAutofit/>
                    </a:bodyPr>
                    <a:p/>
                  </a:txBody>
                  <a:tcPr marL="50800" marR="50800" marT="38100" marB="38100"/>
                </a:tc>
              </a:tr>
              <a:tr h="246650">
                <a:tc>
                  <a:txBody>
                    <a:bodyPr wrap="square">
                      <a:normAutofit/>
                    </a:bodyPr>
                    <a:lstStyle/>
                    <a:p>
                      <a:pPr indent="0" lvl="0" marL="0" rtl="0" algn="l">
                        <a:lnSpc>
                          <a:spcPct val="115000"/>
                        </a:lnSpc>
                        <a:spcBef>
                          <a:spcPts val="0"/>
                        </a:spcBef>
                        <a:spcAft>
                          <a:spcPts val="0"/>
                        </a:spcAft>
                        <a:buNone/>
                      </a:pPr>
                      <a:r>
                        <a:rPr sz="1000" b="1">
                          <a:solidFill>
                            <a:srgbClr val="000000"/>
                          </a:solidFill>
                          <a:latin typeface="Arial"/>
                        </a:rPr>
                        <a:t>Selected risk response strategy:</a:t>
                      </a:r>
                      <a:endParaRPr sz="1800">
                        <a:solidFill>
                          <a:srgbClr val="525C65"/>
                        </a:solidFill>
                        <a:latin typeface="Open Sans"/>
                        <a:ea typeface="Open Sans"/>
                        <a:cs typeface="Open Sans"/>
                        <a:sym typeface="Open Sans"/>
                      </a:endParaRPr>
                    </a:p>
                  </a:txBody>
                  <a:tcPr marT="25400" marB="25400" marR="50800" marL="508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0F2FE"/>
                    </a:solidFill>
                  </a:tcPr>
                </a:tc>
                <a:tc>
                  <a:txBody>
                    <a:bodyPr wrap="square">
                      <a:normAutofit/>
                    </a:bodyPr>
                    <a:lstStyle/>
                    <a:p>
                      <a:pPr indent="0" lvl="0" marL="0" rtl="0" algn="ctr">
                        <a:lnSpc>
                          <a:spcPct val="115000"/>
                        </a:lnSpc>
                        <a:spcBef>
                          <a:spcPts val="0"/>
                        </a:spcBef>
                        <a:spcAft>
                          <a:spcPts val="0"/>
                        </a:spcAft>
                        <a:buClr>
                          <a:schemeClr val="dk1"/>
                        </a:buClr>
                        <a:buSzPts val="1100"/>
                        <a:buFont typeface="Arial"/>
                        <a:buNone/>
                      </a:pPr>
                      <a:r>
                        <a:rPr sz="1000" b="1">
                          <a:solidFill>
                            <a:srgbClr val="000000"/>
                          </a:solidFill>
                          <a:latin typeface="Arial"/>
                        </a:rPr>
                        <a:t>Escalate</a:t>
                      </a:r>
                      <a:endParaRPr sz="1800">
                        <a:solidFill>
                          <a:srgbClr val="525C65"/>
                        </a:solidFill>
                        <a:latin typeface="Open Sans"/>
                        <a:ea typeface="Open Sans"/>
                        <a:cs typeface="Open Sans"/>
                        <a:sym typeface="Open Sans"/>
                      </a:endParaRPr>
                    </a:p>
                  </a:txBody>
                  <a:tcPr marT="25400" marB="25400" marR="50800" marL="508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26650">
                <a:tc gridSpan="2">
                  <a:txBody>
                    <a:bodyPr wrap="square">
                      <a:normAutofit/>
                    </a:bodyPr>
                    <a:lstStyle/>
                    <a:p>
                      <a:pPr indent="0" lvl="0" marL="0" rtl="0" algn="l">
                        <a:spcBef>
                          <a:spcPts val="0"/>
                        </a:spcBef>
                        <a:spcAft>
                          <a:spcPts val="0"/>
                        </a:spcAft>
                        <a:buNone/>
                      </a:pPr>
                      <a:r>
                        <a:rPr sz="1000" b="1">
                          <a:solidFill>
                            <a:srgbClr val="000000"/>
                          </a:solidFill>
                          <a:latin typeface="Arial"/>
                        </a:rPr>
                        <a:t>Explain below how you would apply the strategy.</a:t>
                      </a:r>
                      <a:endParaRPr i="1" sz="1800">
                        <a:solidFill>
                          <a:srgbClr val="525C65"/>
                        </a:solidFill>
                        <a:latin typeface="Open Sans Light"/>
                        <a:ea typeface="Open Sans Light"/>
                        <a:cs typeface="Open Sans Light"/>
                        <a:sym typeface="Open Sans Light"/>
                      </a:endParaRPr>
                    </a:p>
                  </a:txBody>
                  <a:tcPr marT="25400" marB="25400" marR="50800" marL="508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0F2FE"/>
                    </a:solidFill>
                  </a:tcPr>
                </a:tc>
                <a:tc hMerge="1">
                  <a:txBody>
                    <a:bodyPr wrap="square">
                      <a:normAutofit/>
                    </a:bodyPr>
                    <a:p/>
                  </a:txBody>
                  <a:tcPr marL="50800" marR="50800" marT="25400" marB="25400">
                    <a:solidFill>
                      <a:srgbClr val="E0F2FE"/>
                    </a:solidFill>
                  </a:tcPr>
                </a:tc>
              </a:tr>
              <a:tr h="1927425">
                <a:tc gridSpan="2">
                  <a:txBody>
                    <a:bodyPr wrap="square">
                      <a:normAutofit/>
                    </a:bodyPr>
                    <a:lstStyle/>
                    <a:p>
                      <a:pPr indent="0" lvl="0" marL="0" rtl="0" algn="l">
                        <a:spcBef>
                          <a:spcPts val="0"/>
                        </a:spcBef>
                        <a:spcAft>
                          <a:spcPts val="0"/>
                        </a:spcAft>
                        <a:buNone/>
                      </a:pPr>
                      <a:r>
                        <a:rPr sz="810" b="0">
                          <a:solidFill>
                            <a:srgbClr val="000000"/>
                          </a:solidFill>
                          <a:latin typeface="Arial"/>
                        </a:rPr>
                        <a:t>I would escalate the issue to Lou because the project manager cannot approve a customer-facing $3,500 budget increase or a major schedule change alone. I would prepare a change request for Papa and Mama Stefano that compares three choices: approve the AI upgrade, reduce the recommendation engine scope, or defer that feature to a later phase. The recommendation engine work would pause until the customer approves a path forward. The customer impact is that they must choose between added cost and time or a smaller initial feature, but the decision will protect them from surprise spending.</a:t>
                      </a:r>
                      <a:endParaRPr sz="1800">
                        <a:solidFill>
                          <a:srgbClr val="525C65"/>
                        </a:solidFill>
                        <a:latin typeface="Open Sans"/>
                        <a:ea typeface="Open Sans"/>
                        <a:cs typeface="Open Sans"/>
                        <a:sym typeface="Open Sans"/>
                      </a:endParaRPr>
                    </a:p>
                  </a:txBody>
                  <a:tcPr marT="25400" marB="25400" marR="50800" marL="508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hMerge="1">
                  <a:txBody>
                    <a:bodyPr wrap="square">
                      <a:normAutofit/>
                    </a:bodyPr>
                    <a:p/>
                  </a:txBody>
                  <a:tcPr marL="50800" marR="50800" marT="38100" marB="38100"/>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type="title"/>
          </p:nvPr>
        </p:nvSpPr>
        <p:spPr>
          <a:xfrm>
            <a:off x="264900" y="2160200"/>
            <a:ext cx="7242600" cy="255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Step Five:</a:t>
            </a:r>
            <a:endParaRPr/>
          </a:p>
          <a:p>
            <a:pPr indent="0" lvl="0" marL="0" rtl="0" algn="l">
              <a:spcBef>
                <a:spcPts val="0"/>
              </a:spcBef>
              <a:spcAft>
                <a:spcPts val="0"/>
              </a:spcAft>
              <a:buNone/>
            </a:pPr>
            <a:r>
              <a:rPr lang="en"/>
              <a:t>Knowledge Documentation</a:t>
            </a:r>
            <a:endParaRPr/>
          </a:p>
        </p:txBody>
      </p:sp>
      <p:sp>
        <p:nvSpPr>
          <p:cNvPr id="246" name="Google Shape;246;p40"/>
          <p:cNvSpPr txBox="1"/>
          <p:nvPr>
            <p:ph idx="4294967295"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Digital Project Management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1"/>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Knowledge Documentation</a:t>
            </a:r>
            <a:endParaRPr/>
          </a:p>
        </p:txBody>
      </p:sp>
      <p:sp>
        <p:nvSpPr>
          <p:cNvPr id="252" name="Google Shape;252;p41"/>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p>
            <a:pPr indent="0" lvl="0" marL="0" rtl="0" algn="l">
              <a:spcBef>
                <a:spcPts val="1000"/>
              </a:spcBef>
              <a:spcAft>
                <a:spcPts val="1000"/>
              </a:spcAft>
              <a:buClr>
                <a:schemeClr val="dk1"/>
              </a:buClr>
              <a:buSzPts val="1100"/>
              <a:buFont typeface="Arial"/>
              <a:buNone/>
            </a:pPr>
            <a:r>
              <a:rPr lang="en"/>
              <a:t>Throughout the project and before its closure, you asked the team to create documentation for the company Yosemite and the customer. The documentation list is partially filled out; </a:t>
            </a:r>
            <a:r>
              <a:rPr b="1" lang="en">
                <a:latin typeface="Open Sans"/>
                <a:ea typeface="Open Sans"/>
                <a:cs typeface="Open Sans"/>
                <a:sym typeface="Open Sans"/>
              </a:rPr>
              <a:t>your task is to fill in the missing information.</a:t>
            </a:r>
            <a:r>
              <a:rPr lang="en"/>
              <a:t> You can also add more documentation tasks to the list, as there are many more things that can be written down. To have a complete project plan, consider adding these tasks to your Gantt chart/Trello board.</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2"/>
          <p:cNvSpPr txBox="1"/>
          <p:nvPr>
            <p:ph type="title"/>
          </p:nvPr>
        </p:nvSpPr>
        <p:spPr>
          <a:xfrm>
            <a:off x="264945" y="870271"/>
            <a:ext cx="7242600" cy="111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Knowledge Documentation</a:t>
            </a:r>
            <a:endParaRPr/>
          </a:p>
        </p:txBody>
      </p:sp>
      <p:graphicFrame>
        <p:nvGraphicFramePr>
          <p:cNvPr id="258" name="Google Shape;258;p42"/>
          <p:cNvGraphicFramePr/>
          <p:nvPr/>
        </p:nvGraphicFramePr>
        <p:xfrm>
          <a:off x="264900" y="1896200"/>
          <a:ext cx="3000000" cy="3000000"/>
        </p:xfrm>
        <a:graphic>
          <a:graphicData uri="http://schemas.openxmlformats.org/drawingml/2006/table">
            <a:tbl>
              <a:tblPr>
                <a:noFill/>
                <a:tableStyleId>{C82BA829-6A89-494B-93C7-34DF5BC7DE1F}</a:tableStyleId>
              </a:tblPr>
              <a:tblGrid>
                <a:gridCol w="1810650"/>
                <a:gridCol w="987100"/>
                <a:gridCol w="1786425"/>
                <a:gridCol w="2658425"/>
              </a:tblGrid>
              <a:tr h="979500">
                <a:tc>
                  <a:txBody>
                    <a:bodyPr wrap="square">
                      <a:normAutofit/>
                    </a:bodyPr>
                    <a:lstStyle/>
                    <a:p>
                      <a:pPr indent="0" lvl="0" marL="0" rtl="0" algn="ctr">
                        <a:spcBef>
                          <a:spcPts val="0"/>
                        </a:spcBef>
                        <a:spcAft>
                          <a:spcPts val="0"/>
                        </a:spcAft>
                        <a:buNone/>
                      </a:pPr>
                      <a:r>
                        <a:rPr sz="940" b="1">
                          <a:solidFill>
                            <a:srgbClr val="FFFFFF"/>
                          </a:solidFill>
                          <a:latin typeface="Arial"/>
                        </a:rPr>
                        <a:t>Task</a:t>
                      </a:r>
                      <a:endParaRPr sz="1200">
                        <a:solidFill>
                          <a:schemeClr val="lt1"/>
                        </a:solidFill>
                        <a:latin typeface="Open Sans"/>
                        <a:ea typeface="Open Sans"/>
                        <a:cs typeface="Open Sans"/>
                        <a:sym typeface="Open Sans"/>
                      </a:endParaRPr>
                    </a:p>
                  </a:txBody>
                  <a:tcPr marT="38100" marB="38100" marR="50800" marL="50800" anchor="ctr">
                    <a:solidFill>
                      <a:srgbClr val="00A6C8"/>
                    </a:solidFill>
                  </a:tcPr>
                </a:tc>
                <a:tc>
                  <a:txBody>
                    <a:bodyPr wrap="square">
                      <a:normAutofit/>
                    </a:bodyPr>
                    <a:lstStyle/>
                    <a:p>
                      <a:pPr indent="0" lvl="0" marL="0" rtl="0" algn="ctr">
                        <a:spcBef>
                          <a:spcPts val="0"/>
                        </a:spcBef>
                        <a:spcAft>
                          <a:spcPts val="0"/>
                        </a:spcAft>
                        <a:buNone/>
                      </a:pPr>
                      <a:r>
                        <a:rPr sz="940" b="1">
                          <a:solidFill>
                            <a:srgbClr val="FFFFFF"/>
                          </a:solidFill>
                          <a:latin typeface="Arial"/>
                        </a:rPr>
                        <a:t>Assignee</a:t>
                      </a:r>
                      <a:endParaRPr sz="1200">
                        <a:solidFill>
                          <a:schemeClr val="lt1"/>
                        </a:solidFill>
                        <a:latin typeface="Open Sans"/>
                        <a:ea typeface="Open Sans"/>
                        <a:cs typeface="Open Sans"/>
                        <a:sym typeface="Open Sans"/>
                      </a:endParaRPr>
                    </a:p>
                  </a:txBody>
                  <a:tcPr marT="38100" marB="38100" marR="50800" marL="50800" anchor="ctr">
                    <a:solidFill>
                      <a:srgbClr val="00A6C8"/>
                    </a:solidFill>
                  </a:tcPr>
                </a:tc>
                <a:tc>
                  <a:txBody>
                    <a:bodyPr wrap="square">
                      <a:normAutofit/>
                    </a:bodyPr>
                    <a:lstStyle/>
                    <a:p>
                      <a:pPr indent="0" lvl="0" marL="0" rtl="0" algn="ctr">
                        <a:spcBef>
                          <a:spcPts val="0"/>
                        </a:spcBef>
                        <a:spcAft>
                          <a:spcPts val="0"/>
                        </a:spcAft>
                        <a:buNone/>
                      </a:pPr>
                      <a:r>
                        <a:rPr sz="940" b="1">
                          <a:solidFill>
                            <a:srgbClr val="FFFFFF"/>
                          </a:solidFill>
                          <a:latin typeface="Arial"/>
                        </a:rPr>
                        <a:t>Place in Timeline</a:t>
                      </a:r>
                      <a:endParaRPr sz="1200">
                        <a:solidFill>
                          <a:schemeClr val="lt1"/>
                        </a:solidFill>
                        <a:latin typeface="Open Sans"/>
                        <a:ea typeface="Open Sans"/>
                        <a:cs typeface="Open Sans"/>
                        <a:sym typeface="Open Sans"/>
                      </a:endParaRPr>
                    </a:p>
                  </a:txBody>
                  <a:tcPr marT="38100" marB="38100" marR="50800" marL="50800" anchor="ctr">
                    <a:solidFill>
                      <a:srgbClr val="00A6C8"/>
                    </a:solidFill>
                  </a:tcPr>
                </a:tc>
                <a:tc>
                  <a:txBody>
                    <a:bodyPr wrap="square">
                      <a:normAutofit/>
                    </a:bodyPr>
                    <a:lstStyle/>
                    <a:p>
                      <a:pPr indent="0" lvl="0" marL="0" rtl="0" algn="ctr">
                        <a:spcBef>
                          <a:spcPts val="0"/>
                        </a:spcBef>
                        <a:spcAft>
                          <a:spcPts val="0"/>
                        </a:spcAft>
                        <a:buNone/>
                      </a:pPr>
                      <a:r>
                        <a:rPr sz="940" b="1">
                          <a:solidFill>
                            <a:srgbClr val="FFFFFF"/>
                          </a:solidFill>
                          <a:latin typeface="Arial"/>
                        </a:rPr>
                        <a:t>Reason for Documenting This Task</a:t>
                      </a:r>
                      <a:endParaRPr sz="1200">
                        <a:solidFill>
                          <a:schemeClr val="lt1"/>
                        </a:solidFill>
                        <a:latin typeface="Open Sans"/>
                        <a:ea typeface="Open Sans"/>
                        <a:cs typeface="Open Sans"/>
                        <a:sym typeface="Open Sans"/>
                      </a:endParaRPr>
                    </a:p>
                  </a:txBody>
                  <a:tcPr marT="38100" marB="38100" marR="50800" marL="50800" anchor="ctr">
                    <a:solidFill>
                      <a:srgbClr val="00A6C8"/>
                    </a:solidFill>
                  </a:tcPr>
                </a:tc>
              </a:tr>
              <a:tr h="1762925">
                <a:tc>
                  <a:txBody>
                    <a:bodyPr wrap="square">
                      <a:normAutofit/>
                    </a:bodyPr>
                    <a:lstStyle/>
                    <a:p>
                      <a:pPr indent="0" lvl="0" marL="0" rtl="0" algn="ctr">
                        <a:spcBef>
                          <a:spcPts val="0"/>
                        </a:spcBef>
                        <a:spcAft>
                          <a:spcPts val="0"/>
                        </a:spcAft>
                        <a:buNone/>
                      </a:pPr>
                      <a:r>
                        <a:rPr sz="830" b="0">
                          <a:solidFill>
                            <a:srgbClr val="000000"/>
                          </a:solidFill>
                          <a:latin typeface="Arial"/>
                        </a:rPr>
                        <a:t>Storefront Technical Documentation</a:t>
                      </a:r>
                      <a:endParaRPr sz="1200">
                        <a:solidFill>
                          <a:schemeClr val="dk1"/>
                        </a:solidFill>
                        <a:latin typeface="Open Sans"/>
                        <a:ea typeface="Open Sans"/>
                        <a:cs typeface="Open Sans"/>
                        <a:sym typeface="Open Sans"/>
                      </a:endParaRPr>
                    </a:p>
                  </a:txBody>
                  <a:tcPr marT="38100" marB="38100" marR="50800" marL="50800" anchor="ctr"/>
                </a:tc>
                <a:tc>
                  <a:txBody>
                    <a:bodyPr wrap="square">
                      <a:normAutofit/>
                    </a:bodyPr>
                    <a:lstStyle/>
                    <a:p>
                      <a:pPr indent="0" lvl="0" marL="0" rtl="0" algn="ctr">
                        <a:spcBef>
                          <a:spcPts val="0"/>
                        </a:spcBef>
                        <a:spcAft>
                          <a:spcPts val="0"/>
                        </a:spcAft>
                        <a:buNone/>
                      </a:pPr>
                      <a:r>
                        <a:rPr sz="830" b="0">
                          <a:solidFill>
                            <a:srgbClr val="000000"/>
                          </a:solidFill>
                          <a:latin typeface="Arial"/>
                        </a:rPr>
                        <a:t>Aliyah</a:t>
                      </a:r>
                      <a:endParaRPr sz="1200">
                        <a:solidFill>
                          <a:schemeClr val="dk1"/>
                        </a:solidFill>
                        <a:latin typeface="Open Sans"/>
                        <a:ea typeface="Open Sans"/>
                        <a:cs typeface="Open Sans"/>
                        <a:sym typeface="Open Sans"/>
                      </a:endParaRPr>
                    </a:p>
                  </a:txBody>
                  <a:tcPr marT="38100" marB="38100" marR="50800" marL="50800" anchor="ctr"/>
                </a:tc>
                <a:tc>
                  <a:txBody>
                    <a:bodyPr wrap="square">
                      <a:normAutofit/>
                    </a:bodyPr>
                    <a:lstStyle/>
                    <a:p>
                      <a:pPr indent="0" lvl="0" marL="0" rtl="0" algn="ctr">
                        <a:spcBef>
                          <a:spcPts val="0"/>
                        </a:spcBef>
                        <a:spcAft>
                          <a:spcPts val="0"/>
                        </a:spcAft>
                        <a:buNone/>
                      </a:pPr>
                      <a:r>
                        <a:rPr sz="830" b="0">
                          <a:solidFill>
                            <a:srgbClr val="000000"/>
                          </a:solidFill>
                          <a:latin typeface="Arial"/>
                        </a:rPr>
                        <a:t>After finishing Build Storefront task</a:t>
                      </a:r>
                      <a:endParaRPr sz="1200">
                        <a:solidFill>
                          <a:schemeClr val="dk1"/>
                        </a:solidFill>
                        <a:latin typeface="Open Sans"/>
                        <a:ea typeface="Open Sans"/>
                        <a:cs typeface="Open Sans"/>
                        <a:sym typeface="Open Sans"/>
                      </a:endParaRPr>
                    </a:p>
                  </a:txBody>
                  <a:tcPr marT="38100" marB="38100" marR="50800" marL="50800" anchor="ctr"/>
                </a:tc>
                <a:tc>
                  <a:txBody>
                    <a:bodyPr wrap="square">
                      <a:normAutofit/>
                    </a:bodyPr>
                    <a:lstStyle/>
                    <a:p>
                      <a:pPr indent="0" lvl="0" marL="0" rtl="0" algn="ctr">
                        <a:spcBef>
                          <a:spcPts val="0"/>
                        </a:spcBef>
                        <a:spcAft>
                          <a:spcPts val="0"/>
                        </a:spcAft>
                        <a:buNone/>
                      </a:pPr>
                      <a:r>
                        <a:rPr sz="830" b="0">
                          <a:solidFill>
                            <a:srgbClr val="000000"/>
                          </a:solidFill>
                          <a:latin typeface="Arial"/>
                        </a:rPr>
                        <a:t>Captures design, build, test, release notes, and maintenance details so Yosemite can support and update the storefront.</a:t>
                      </a:r>
                      <a:endParaRPr sz="1200">
                        <a:solidFill>
                          <a:schemeClr val="dk1"/>
                        </a:solidFill>
                        <a:latin typeface="Open Sans"/>
                        <a:ea typeface="Open Sans"/>
                        <a:cs typeface="Open Sans"/>
                        <a:sym typeface="Open Sans"/>
                      </a:endParaRPr>
                    </a:p>
                  </a:txBody>
                  <a:tcPr marT="38100" marB="38100" marR="50800" marL="50800" anchor="ctr"/>
                </a:tc>
              </a:tr>
              <a:tr h="1947625">
                <a:tc>
                  <a:txBody>
                    <a:bodyPr wrap="square">
                      <a:normAutofit/>
                    </a:bodyPr>
                    <a:lstStyle/>
                    <a:p>
                      <a:pPr indent="0" lvl="0" marL="0" rtl="0" algn="ctr">
                        <a:spcBef>
                          <a:spcPts val="0"/>
                        </a:spcBef>
                        <a:spcAft>
                          <a:spcPts val="0"/>
                        </a:spcAft>
                        <a:buClr>
                          <a:schemeClr val="dk1"/>
                        </a:buClr>
                        <a:buSzPts val="1100"/>
                        <a:buFont typeface="Arial"/>
                        <a:buNone/>
                      </a:pPr>
                      <a:r>
                        <a:rPr sz="830" b="0">
                          <a:solidFill>
                            <a:srgbClr val="000000"/>
                          </a:solidFill>
                          <a:latin typeface="Arial"/>
                        </a:rPr>
                        <a:t>Platform user's manual</a:t>
                      </a:r>
                      <a:endParaRPr sz="1200">
                        <a:solidFill>
                          <a:schemeClr val="dk1"/>
                        </a:solidFill>
                        <a:latin typeface="Open Sans"/>
                        <a:ea typeface="Open Sans"/>
                        <a:cs typeface="Open Sans"/>
                        <a:sym typeface="Open Sans"/>
                      </a:endParaRPr>
                    </a:p>
                  </a:txBody>
                  <a:tcPr marT="38100" marB="38100" marR="50800" marL="50800" anchor="ctr"/>
                </a:tc>
                <a:tc>
                  <a:txBody>
                    <a:bodyPr wrap="square">
                      <a:normAutofit/>
                    </a:bodyPr>
                    <a:lstStyle/>
                    <a:p>
                      <a:pPr indent="0" lvl="0" marL="0" rtl="0" algn="ctr">
                        <a:spcBef>
                          <a:spcPts val="0"/>
                        </a:spcBef>
                        <a:spcAft>
                          <a:spcPts val="0"/>
                        </a:spcAft>
                        <a:buNone/>
                      </a:pPr>
                      <a:r>
                        <a:rPr sz="830" b="0">
                          <a:solidFill>
                            <a:srgbClr val="000000"/>
                          </a:solidFill>
                          <a:latin typeface="Arial"/>
                        </a:rPr>
                        <a:t>Moe</a:t>
                      </a:r>
                      <a:endParaRPr sz="1200">
                        <a:solidFill>
                          <a:schemeClr val="dk1"/>
                        </a:solidFill>
                        <a:latin typeface="Open Sans"/>
                        <a:ea typeface="Open Sans"/>
                        <a:cs typeface="Open Sans"/>
                        <a:sym typeface="Open Sans"/>
                      </a:endParaRPr>
                    </a:p>
                  </a:txBody>
                  <a:tcPr marT="38100" marB="38100" marR="50800" marL="50800" anchor="ctr"/>
                </a:tc>
                <a:tc>
                  <a:txBody>
                    <a:bodyPr wrap="square">
                      <a:normAutofit/>
                    </a:bodyPr>
                    <a:lstStyle/>
                    <a:p>
                      <a:pPr indent="0" lvl="0" marL="0" rtl="0" algn="ctr">
                        <a:spcBef>
                          <a:spcPts val="0"/>
                        </a:spcBef>
                        <a:spcAft>
                          <a:spcPts val="0"/>
                        </a:spcAft>
                        <a:buNone/>
                      </a:pPr>
                      <a:r>
                        <a:rPr sz="830" b="0">
                          <a:solidFill>
                            <a:srgbClr val="000000"/>
                          </a:solidFill>
                          <a:latin typeface="Arial"/>
                        </a:rPr>
                        <a:t>Before training the Stefanos</a:t>
                      </a:r>
                      <a:endParaRPr sz="1200">
                        <a:solidFill>
                          <a:schemeClr val="dk1"/>
                        </a:solidFill>
                        <a:latin typeface="Open Sans"/>
                        <a:ea typeface="Open Sans"/>
                        <a:cs typeface="Open Sans"/>
                        <a:sym typeface="Open Sans"/>
                      </a:endParaRPr>
                    </a:p>
                  </a:txBody>
                  <a:tcPr marT="38100" marB="38100" marR="50800" marL="50800" anchor="ctr"/>
                </a:tc>
                <a:tc>
                  <a:txBody>
                    <a:bodyPr wrap="square">
                      <a:normAutofit/>
                    </a:bodyPr>
                    <a:lstStyle/>
                    <a:p>
                      <a:pPr indent="0" lvl="0" marL="0" rtl="0" algn="ctr">
                        <a:spcBef>
                          <a:spcPts val="0"/>
                        </a:spcBef>
                        <a:spcAft>
                          <a:spcPts val="0"/>
                        </a:spcAft>
                        <a:buClr>
                          <a:schemeClr val="dk1"/>
                        </a:buClr>
                        <a:buSzPts val="1100"/>
                        <a:buFont typeface="Arial"/>
                        <a:buNone/>
                      </a:pPr>
                      <a:r>
                        <a:rPr sz="830" b="0">
                          <a:solidFill>
                            <a:srgbClr val="000000"/>
                          </a:solidFill>
                          <a:latin typeface="Arial"/>
                        </a:rPr>
                        <a:t>A documentation that can be given to Stefanos as a manual for operating the digital store.</a:t>
                      </a:r>
                      <a:endParaRPr sz="1200">
                        <a:solidFill>
                          <a:schemeClr val="dk1"/>
                        </a:solidFill>
                        <a:latin typeface="Open Sans"/>
                        <a:ea typeface="Open Sans"/>
                        <a:cs typeface="Open Sans"/>
                        <a:sym typeface="Open Sans"/>
                      </a:endParaRPr>
                    </a:p>
                  </a:txBody>
                  <a:tcPr marT="38100" marB="38100" marR="50800" marL="50800" anchor="ctr"/>
                </a:tc>
              </a:tr>
              <a:tr h="1626625">
                <a:tc>
                  <a:txBody>
                    <a:bodyPr wrap="square">
                      <a:normAutofit/>
                    </a:bodyPr>
                    <a:lstStyle/>
                    <a:p>
                      <a:pPr indent="0" lvl="0" marL="0" rtl="0" algn="ctr">
                        <a:spcBef>
                          <a:spcPts val="0"/>
                        </a:spcBef>
                        <a:spcAft>
                          <a:spcPts val="0"/>
                        </a:spcAft>
                        <a:buNone/>
                      </a:pPr>
                      <a:r>
                        <a:rPr sz="830" b="0">
                          <a:solidFill>
                            <a:srgbClr val="000000"/>
                          </a:solidFill>
                          <a:latin typeface="Arial"/>
                        </a:rPr>
                        <a:t>Recommendation Engine Documentation</a:t>
                      </a:r>
                      <a:endParaRPr sz="1200">
                        <a:solidFill>
                          <a:schemeClr val="dk1"/>
                        </a:solidFill>
                        <a:latin typeface="Open Sans"/>
                        <a:ea typeface="Open Sans"/>
                        <a:cs typeface="Open Sans"/>
                        <a:sym typeface="Open Sans"/>
                      </a:endParaRPr>
                    </a:p>
                  </a:txBody>
                  <a:tcPr marT="38100" marB="38100" marR="50800" marL="50800" anchor="ctr"/>
                </a:tc>
                <a:tc>
                  <a:txBody>
                    <a:bodyPr wrap="square">
                      <a:normAutofit/>
                    </a:bodyPr>
                    <a:lstStyle/>
                    <a:p>
                      <a:pPr indent="0" lvl="0" marL="0" rtl="0" algn="ctr">
                        <a:spcBef>
                          <a:spcPts val="0"/>
                        </a:spcBef>
                        <a:spcAft>
                          <a:spcPts val="0"/>
                        </a:spcAft>
                        <a:buClr>
                          <a:schemeClr val="dk1"/>
                        </a:buClr>
                        <a:buSzPts val="1100"/>
                        <a:buFont typeface="Arial"/>
                        <a:buNone/>
                      </a:pPr>
                      <a:r>
                        <a:rPr sz="830" b="0">
                          <a:solidFill>
                            <a:srgbClr val="000000"/>
                          </a:solidFill>
                          <a:latin typeface="Arial"/>
                        </a:rPr>
                        <a:t>Aliyah</a:t>
                      </a:r>
                      <a:endParaRPr sz="1200">
                        <a:solidFill>
                          <a:schemeClr val="dk1"/>
                        </a:solidFill>
                        <a:latin typeface="Open Sans"/>
                        <a:ea typeface="Open Sans"/>
                        <a:cs typeface="Open Sans"/>
                        <a:sym typeface="Open Sans"/>
                      </a:endParaRPr>
                    </a:p>
                  </a:txBody>
                  <a:tcPr marT="38100" marB="38100" marR="50800" marL="50800" anchor="ctr"/>
                </a:tc>
                <a:tc>
                  <a:txBody>
                    <a:bodyPr wrap="square">
                      <a:normAutofit/>
                    </a:bodyPr>
                    <a:lstStyle/>
                    <a:p>
                      <a:pPr indent="0" lvl="0" marL="0" rtl="0" algn="ctr">
                        <a:spcBef>
                          <a:spcPts val="0"/>
                        </a:spcBef>
                        <a:spcAft>
                          <a:spcPts val="0"/>
                        </a:spcAft>
                        <a:buNone/>
                      </a:pPr>
                      <a:r>
                        <a:rPr sz="830" b="0">
                          <a:solidFill>
                            <a:srgbClr val="000000"/>
                          </a:solidFill>
                          <a:latin typeface="Arial"/>
                        </a:rPr>
                        <a:t>After finishing Build Recommendation Engine task</a:t>
                      </a:r>
                      <a:endParaRPr sz="1200">
                        <a:solidFill>
                          <a:schemeClr val="dk1"/>
                        </a:solidFill>
                        <a:latin typeface="Open Sans"/>
                        <a:ea typeface="Open Sans"/>
                        <a:cs typeface="Open Sans"/>
                        <a:sym typeface="Open Sans"/>
                      </a:endParaRPr>
                    </a:p>
                  </a:txBody>
                  <a:tcPr marT="38100" marB="38100" marR="50800" marL="50800" anchor="ctr"/>
                </a:tc>
                <a:tc>
                  <a:txBody>
                    <a:bodyPr wrap="square">
                      <a:normAutofit/>
                    </a:bodyPr>
                    <a:lstStyle/>
                    <a:p>
                      <a:pPr indent="0" lvl="0" marL="0" rtl="0" algn="ctr">
                        <a:spcBef>
                          <a:spcPts val="0"/>
                        </a:spcBef>
                        <a:spcAft>
                          <a:spcPts val="0"/>
                        </a:spcAft>
                        <a:buNone/>
                      </a:pPr>
                      <a:r>
                        <a:rPr sz="830" b="0">
                          <a:solidFill>
                            <a:srgbClr val="000000"/>
                          </a:solidFill>
                          <a:latin typeface="Arial"/>
                        </a:rPr>
                        <a:t>A comprehensive guide for end users and maintenance teams, including setup, assumptions, and support steps.</a:t>
                      </a:r>
                      <a:endParaRPr sz="1200">
                        <a:solidFill>
                          <a:schemeClr val="dk1"/>
                        </a:solidFill>
                        <a:latin typeface="Open Sans"/>
                        <a:ea typeface="Open Sans"/>
                        <a:cs typeface="Open Sans"/>
                        <a:sym typeface="Open Sans"/>
                      </a:endParaRPr>
                    </a:p>
                  </a:txBody>
                  <a:tcPr marT="38100" marB="38100" marR="50800" marL="50800" anchor="ctr"/>
                </a:tc>
              </a:tr>
              <a:tr h="1615100">
                <a:tc>
                  <a:txBody>
                    <a:bodyPr wrap="square">
                      <a:normAutofit/>
                    </a:bodyPr>
                    <a:lstStyle/>
                    <a:p>
                      <a:pPr indent="0" lvl="0" marL="0" rtl="0" algn="ctr">
                        <a:spcBef>
                          <a:spcPts val="0"/>
                        </a:spcBef>
                        <a:spcAft>
                          <a:spcPts val="0"/>
                        </a:spcAft>
                        <a:buNone/>
                      </a:pPr>
                      <a:r>
                        <a:rPr sz="830" b="0">
                          <a:solidFill>
                            <a:srgbClr val="000000"/>
                          </a:solidFill>
                          <a:latin typeface="Arial"/>
                        </a:rPr>
                        <a:t>Lesson Learned Document</a:t>
                      </a:r>
                      <a:endParaRPr sz="1200">
                        <a:solidFill>
                          <a:schemeClr val="dk1"/>
                        </a:solidFill>
                        <a:latin typeface="Open Sans"/>
                        <a:ea typeface="Open Sans"/>
                        <a:cs typeface="Open Sans"/>
                        <a:sym typeface="Open Sans"/>
                      </a:endParaRPr>
                    </a:p>
                  </a:txBody>
                  <a:tcPr marT="38100" marB="38100" marR="50800" marL="50800" anchor="ctr"/>
                </a:tc>
                <a:tc>
                  <a:txBody>
                    <a:bodyPr wrap="square">
                      <a:normAutofit/>
                    </a:bodyPr>
                    <a:lstStyle/>
                    <a:p>
                      <a:pPr indent="0" lvl="0" marL="0" rtl="0" algn="ctr">
                        <a:spcBef>
                          <a:spcPts val="0"/>
                        </a:spcBef>
                        <a:spcAft>
                          <a:spcPts val="0"/>
                        </a:spcAft>
                        <a:buNone/>
                      </a:pPr>
                      <a:r>
                        <a:rPr sz="830" b="0">
                          <a:solidFill>
                            <a:srgbClr val="000000"/>
                          </a:solidFill>
                          <a:latin typeface="Arial"/>
                        </a:rPr>
                        <a:t>Project Manager</a:t>
                      </a:r>
                      <a:endParaRPr sz="1200">
                        <a:solidFill>
                          <a:schemeClr val="dk1"/>
                        </a:solidFill>
                        <a:latin typeface="Open Sans"/>
                        <a:ea typeface="Open Sans"/>
                        <a:cs typeface="Open Sans"/>
                        <a:sym typeface="Open Sans"/>
                      </a:endParaRPr>
                    </a:p>
                  </a:txBody>
                  <a:tcPr marT="38100" marB="38100" marR="50800" marL="50800" anchor="ctr"/>
                </a:tc>
                <a:tc>
                  <a:txBody>
                    <a:bodyPr wrap="square">
                      <a:normAutofit/>
                    </a:bodyPr>
                    <a:lstStyle/>
                    <a:p>
                      <a:pPr indent="0" lvl="0" marL="0" rtl="0" algn="ctr">
                        <a:spcBef>
                          <a:spcPts val="0"/>
                        </a:spcBef>
                        <a:spcAft>
                          <a:spcPts val="0"/>
                        </a:spcAft>
                        <a:buNone/>
                      </a:pPr>
                      <a:r>
                        <a:rPr sz="830" b="0">
                          <a:solidFill>
                            <a:srgbClr val="000000"/>
                          </a:solidFill>
                          <a:latin typeface="Arial"/>
                        </a:rPr>
                        <a:t>After the project is finished</a:t>
                      </a:r>
                      <a:endParaRPr sz="1200">
                        <a:solidFill>
                          <a:schemeClr val="dk1"/>
                        </a:solidFill>
                        <a:latin typeface="Open Sans"/>
                        <a:ea typeface="Open Sans"/>
                        <a:cs typeface="Open Sans"/>
                        <a:sym typeface="Open Sans"/>
                      </a:endParaRPr>
                    </a:p>
                  </a:txBody>
                  <a:tcPr marT="38100" marB="38100" marR="50800" marL="50800" anchor="ctr"/>
                </a:tc>
                <a:tc>
                  <a:txBody>
                    <a:bodyPr wrap="square">
                      <a:normAutofit/>
                    </a:bodyPr>
                    <a:lstStyle/>
                    <a:p>
                      <a:pPr indent="0" lvl="0" marL="0" rtl="0" algn="ctr">
                        <a:spcBef>
                          <a:spcPts val="0"/>
                        </a:spcBef>
                        <a:spcAft>
                          <a:spcPts val="0"/>
                        </a:spcAft>
                        <a:buNone/>
                      </a:pPr>
                      <a:r>
                        <a:rPr sz="830" b="0">
                          <a:solidFill>
                            <a:srgbClr val="000000"/>
                          </a:solidFill>
                          <a:latin typeface="Arial"/>
                        </a:rPr>
                        <a:t>Documents successes, challenges, risks, and improvements that Yosemite can reuse for future small-business integrations.</a:t>
                      </a:r>
                      <a:endParaRPr sz="1200">
                        <a:solidFill>
                          <a:schemeClr val="dk1"/>
                        </a:solidFill>
                        <a:latin typeface="Open Sans"/>
                        <a:ea typeface="Open Sans"/>
                        <a:cs typeface="Open Sans"/>
                        <a:sym typeface="Open Sans"/>
                      </a:endParaRPr>
                    </a:p>
                  </a:txBody>
                  <a:tcPr marT="38100" marB="38100" marR="50800" marL="50800" anchor="ct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TextBox 3"/>
          <p:cNvSpPr txBox="1"/>
          <p:nvPr/>
        </p:nvSpPr>
        <p:spPr>
          <a:xfrm>
            <a:off x="548640" y="457200"/>
            <a:ext cx="6675120" cy="548640"/>
          </a:xfrm>
          <a:prstGeom prst="rect">
            <a:avLst/>
          </a:prstGeom>
          <a:noFill/>
        </p:spPr>
        <p:txBody>
          <a:bodyPr wrap="square">
            <a:normAutofit/>
          </a:bodyPr>
          <a:lstStyle/>
          <a:p>
            <a:pPr algn="ctr"/>
            <a:r>
              <a:rPr sz="2800" b="1">
                <a:solidFill>
                  <a:srgbClr val="164E63"/>
                </a:solidFill>
                <a:latin typeface="Arial"/>
              </a:rPr>
              <a:t>Waterfall Project Plan Summary</a:t>
            </a:r>
          </a:p>
        </p:txBody>
      </p:sp>
      <p:sp>
        <p:nvSpPr>
          <p:cNvPr id="5" name="TextBox 4"/>
          <p:cNvSpPr txBox="1"/>
          <p:nvPr/>
        </p:nvSpPr>
        <p:spPr>
          <a:xfrm>
            <a:off x="640080" y="1143000"/>
            <a:ext cx="6492240" cy="5303520"/>
          </a:xfrm>
          <a:prstGeom prst="rect">
            <a:avLst/>
          </a:prstGeom>
          <a:noFill/>
        </p:spPr>
        <p:txBody>
          <a:bodyPr wrap="square">
            <a:normAutofit/>
          </a:bodyPr>
          <a:lstStyle/>
          <a:p>
            <a:r>
              <a:rPr sz="1600" b="0">
                <a:solidFill>
                  <a:srgbClr val="000000"/>
                </a:solidFill>
                <a:latin typeface="Arial"/>
              </a:rPr>
              <a:t>Attached file: yosemite_stefano_gantt_chart.xlsx</a:t>
            </a:r>
          </a:p>
          <a:p/>
          <a:p>
            <a:r>
              <a:rPr sz="1600" b="0">
                <a:solidFill>
                  <a:srgbClr val="000000"/>
                </a:solidFill>
                <a:latin typeface="Arial"/>
              </a:rPr>
              <a:t>Schedule: June 8 - August 7, 2026 (9 weeks; within the 12-week maximum).</a:t>
            </a:r>
          </a:p>
          <a:p/>
          <a:p>
            <a:r>
              <a:rPr sz="1600" b="0">
                <a:solidFill>
                  <a:srgbClr val="000000"/>
                </a:solidFill>
                <a:latin typeface="Arial"/>
              </a:rPr>
              <a:t>Major sequencing:</a:t>
            </a:r>
          </a:p>
          <a:p>
            <a:r>
              <a:rPr sz="1600" b="0">
                <a:solidFill>
                  <a:srgbClr val="000000"/>
                </a:solidFill>
                <a:latin typeface="Arial"/>
              </a:rPr>
              <a:t>• Week 1-2: kickoff, stakeholder engagement, storefront build, social channels.</a:t>
            </a:r>
          </a:p>
          <a:p>
            <a:r>
              <a:rPr sz="1600" b="0">
                <a:solidFill>
                  <a:srgbClr val="000000"/>
                </a:solidFill>
                <a:latin typeface="Arial"/>
              </a:rPr>
              <a:t>• Week 3-4: inventory data, platform manual, social media integration.</a:t>
            </a:r>
          </a:p>
          <a:p>
            <a:r>
              <a:rPr sz="1600" b="0">
                <a:solidFill>
                  <a:srgbClr val="000000"/>
                </a:solidFill>
                <a:latin typeface="Arial"/>
              </a:rPr>
              <a:t>• Week 5-6: recommendation engine, custom sales report, engine documentation.</a:t>
            </a:r>
          </a:p>
          <a:p>
            <a:r>
              <a:rPr sz="1600" b="0">
                <a:solidFill>
                  <a:srgbClr val="000000"/>
                </a:solidFill>
                <a:latin typeface="Arial"/>
              </a:rPr>
              <a:t>• Week 7-9: Stefano training, QA/readiness, go-live, lessons learned, closure.</a:t>
            </a:r>
          </a:p>
          <a:p/>
          <a:p>
            <a:r>
              <a:rPr sz="1600" b="0">
                <a:solidFill>
                  <a:srgbClr val="000000"/>
                </a:solidFill>
                <a:latin typeface="Arial"/>
              </a:rPr>
              <a:t>Status reports are planned for June 19, June 22, July 17, and August 7, 2026.</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